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259" r:id="rId4"/>
    <p:sldId id="280" r:id="rId5"/>
    <p:sldId id="282" r:id="rId6"/>
    <p:sldId id="283" r:id="rId7"/>
    <p:sldId id="284" r:id="rId8"/>
    <p:sldId id="288" r:id="rId9"/>
    <p:sldId id="285" r:id="rId10"/>
    <p:sldId id="286" r:id="rId11"/>
    <p:sldId id="287" r:id="rId12"/>
    <p:sldId id="278" r:id="rId13"/>
    <p:sldId id="27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CDD7"/>
    <a:srgbClr val="9EDAE5"/>
    <a:srgbClr val="B7EFE6"/>
    <a:srgbClr val="E5E9FE"/>
    <a:srgbClr val="D8DEE9"/>
    <a:srgbClr val="003156"/>
    <a:srgbClr val="B8DCF3"/>
    <a:srgbClr val="9EDBDD"/>
    <a:srgbClr val="92D0D8"/>
    <a:srgbClr val="89C6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62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0CA4A4-79BB-44C8-BE4A-2971CF4D0170}" type="datetimeFigureOut">
              <a:rPr lang="en-GB" smtClean="0"/>
              <a:t>16/12/2021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ACA244-CBBA-4653-9D21-80F42E5FC7EF}" type="slidenum">
              <a:rPr lang="en-GB" smtClean="0"/>
              <a:t>‹#›</a:t>
            </a:fld>
            <a:endParaRPr lang="en-GB"/>
          </a:p>
        </p:txBody>
      </p:sp>
    </p:spTree>
    <p:extLst>
      <p:ext uri="{BB962C8B-B14F-4D97-AF65-F5344CB8AC3E}">
        <p14:creationId xmlns:p14="http://schemas.microsoft.com/office/powerpoint/2010/main" val="3878100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37221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954227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802D-6630-4D35-9547-81A9D8759B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71EB5AE-5AC3-41CF-9176-0FCC5B6399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C88FCC1-6348-4EA0-9109-96B0C676C7A3}"/>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5" name="Footer Placeholder 4">
            <a:extLst>
              <a:ext uri="{FF2B5EF4-FFF2-40B4-BE49-F238E27FC236}">
                <a16:creationId xmlns:a16="http://schemas.microsoft.com/office/drawing/2014/main" id="{4A2382AE-09F6-4195-A387-8112EE6029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16717B-6F65-48E0-9150-E628E0BAF809}"/>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160664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AB468-95F1-4484-BA09-0DC8C04306F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B46ECDC-03C2-4663-A602-B8B3974C5B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9AB732-1C2C-4B0F-A662-EAA74E639B83}"/>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5" name="Footer Placeholder 4">
            <a:extLst>
              <a:ext uri="{FF2B5EF4-FFF2-40B4-BE49-F238E27FC236}">
                <a16:creationId xmlns:a16="http://schemas.microsoft.com/office/drawing/2014/main" id="{0B69413B-2EEF-4337-B948-3B0BBEABC5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D56414-FF1B-4C3A-BEE0-29EB4B692FB9}"/>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46997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08C74-BA90-44B6-8E01-E52E06307D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8D6126A-CB44-4C08-8FA8-128CA9ECFE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014CCD-9FE2-4DC5-9BB7-6C0F03465CB2}"/>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5" name="Footer Placeholder 4">
            <a:extLst>
              <a:ext uri="{FF2B5EF4-FFF2-40B4-BE49-F238E27FC236}">
                <a16:creationId xmlns:a16="http://schemas.microsoft.com/office/drawing/2014/main" id="{7D55D185-0B51-4229-B0E9-96BAE8EF94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DA9A43-7DF1-4AFC-9C95-A926927264A9}"/>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4227104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E84B-A285-49B5-A9F7-FC591952824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7DE0D57-BF79-4D25-9929-518364D4AB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1024AC2-B563-48E5-ADAF-C141D707F6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6888806-D98A-4755-9432-D59E6732811E}"/>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6" name="Footer Placeholder 5">
            <a:extLst>
              <a:ext uri="{FF2B5EF4-FFF2-40B4-BE49-F238E27FC236}">
                <a16:creationId xmlns:a16="http://schemas.microsoft.com/office/drawing/2014/main" id="{724443AC-9767-4D5F-9B78-0BF1533965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187934-F85C-4353-982E-74BB516F3495}"/>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3155006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38532-1EBF-441F-82A4-796702EB714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45432D-DD8C-4F7C-9C31-845549FF6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C61BEE-83FE-4AC6-8123-E0357EE874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EAEB76-0AD0-4BE7-A9CA-119B1B294D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25D08-76E6-46EC-A14D-9B90F459A0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F5803B1-69B0-4848-96A5-7A95E54F9A8D}"/>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8" name="Footer Placeholder 7">
            <a:extLst>
              <a:ext uri="{FF2B5EF4-FFF2-40B4-BE49-F238E27FC236}">
                <a16:creationId xmlns:a16="http://schemas.microsoft.com/office/drawing/2014/main" id="{167D90F4-54FF-4A03-AC33-80F2D4070A0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C12E7E-E66B-40DA-902C-1B262048F6FA}"/>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1085685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5649C-A406-41BF-91DE-6D1FEE86A29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6B80828-07FA-4272-900C-20F5306BE506}"/>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4" name="Footer Placeholder 3">
            <a:extLst>
              <a:ext uri="{FF2B5EF4-FFF2-40B4-BE49-F238E27FC236}">
                <a16:creationId xmlns:a16="http://schemas.microsoft.com/office/drawing/2014/main" id="{94C32658-DF63-4B5B-9B16-9AC4003AA21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AAC088B-FF89-4EE2-AFB0-0906725A8DFE}"/>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159863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FB86C1-F831-47E5-A0F2-4D1C014A376B}"/>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3" name="Footer Placeholder 2">
            <a:extLst>
              <a:ext uri="{FF2B5EF4-FFF2-40B4-BE49-F238E27FC236}">
                <a16:creationId xmlns:a16="http://schemas.microsoft.com/office/drawing/2014/main" id="{BA43B27C-E590-476D-B9BE-708315BE76F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C08A5A2-8BB7-48D8-82DD-8F185CC984BF}"/>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1399214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CC3B4-053D-4D9A-BCBD-CB52596D2B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7A4C370-1DD0-4D49-89EF-E17CFE6943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E9C5DDF-1169-416A-8D02-69DCD1321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D1432E-3616-437A-BF3F-91173F121498}"/>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6" name="Footer Placeholder 5">
            <a:extLst>
              <a:ext uri="{FF2B5EF4-FFF2-40B4-BE49-F238E27FC236}">
                <a16:creationId xmlns:a16="http://schemas.microsoft.com/office/drawing/2014/main" id="{7C0B98D9-FAE1-4E63-B423-3AA13EF2272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5050A0-D8B6-4DA3-8413-FF6B458D1F91}"/>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1567286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0078F-E364-4139-A1E3-024F2E4574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EA5B6E5-E41B-45D9-899A-58C40AE9F1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3DF7ACF-FF5D-4147-B27B-819A58E3C5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E71BBA-6628-40B7-A19D-D39A4661EF82}"/>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6" name="Footer Placeholder 5">
            <a:extLst>
              <a:ext uri="{FF2B5EF4-FFF2-40B4-BE49-F238E27FC236}">
                <a16:creationId xmlns:a16="http://schemas.microsoft.com/office/drawing/2014/main" id="{730BCEA7-30F8-458D-B64A-11CA71E315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CD69CD-E29F-4D06-9AB0-931119436440}"/>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1339002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B009F-41EC-44A8-8774-AB098D7134A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F6C3FB8-C565-4083-BE15-1A6463C522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A2D600-0BE5-4BEE-874F-76333B2B2EAA}"/>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5" name="Footer Placeholder 4">
            <a:extLst>
              <a:ext uri="{FF2B5EF4-FFF2-40B4-BE49-F238E27FC236}">
                <a16:creationId xmlns:a16="http://schemas.microsoft.com/office/drawing/2014/main" id="{97E52F54-9992-4099-A06B-BEBCCB1C1F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B8D9FC-C3DB-42F7-8FE6-AD17B4CB5836}"/>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3731800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D7B537-9BCE-4DE8-B86B-532F5B4CE6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F4C2B88-0038-4633-AC40-759B7AD17B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E9A741E-82F1-440C-90DB-5DA01D261FFE}"/>
              </a:ext>
            </a:extLst>
          </p:cNvPr>
          <p:cNvSpPr>
            <a:spLocks noGrp="1"/>
          </p:cNvSpPr>
          <p:nvPr>
            <p:ph type="dt" sz="half" idx="10"/>
          </p:nvPr>
        </p:nvSpPr>
        <p:spPr/>
        <p:txBody>
          <a:bodyPr/>
          <a:lstStyle/>
          <a:p>
            <a:fld id="{06F916F1-63C1-4BFA-BBFA-F9ABFF67FA6A}" type="datetimeFigureOut">
              <a:rPr lang="en-GB" smtClean="0"/>
              <a:t>16/12/2021</a:t>
            </a:fld>
            <a:endParaRPr lang="en-GB"/>
          </a:p>
        </p:txBody>
      </p:sp>
      <p:sp>
        <p:nvSpPr>
          <p:cNvPr id="5" name="Footer Placeholder 4">
            <a:extLst>
              <a:ext uri="{FF2B5EF4-FFF2-40B4-BE49-F238E27FC236}">
                <a16:creationId xmlns:a16="http://schemas.microsoft.com/office/drawing/2014/main" id="{0B2FB3C5-E8FB-4361-865F-F5415F7DC3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C5ECC9-AA74-488A-8B59-F85FC662909D}"/>
              </a:ext>
            </a:extLst>
          </p:cNvPr>
          <p:cNvSpPr>
            <a:spLocks noGrp="1"/>
          </p:cNvSpPr>
          <p:nvPr>
            <p:ph type="sldNum" sz="quarter" idx="12"/>
          </p:nvPr>
        </p:nvSpPr>
        <p:spPr/>
        <p:txBody>
          <a:bodyPr/>
          <a:lstStyle/>
          <a:p>
            <a:fld id="{387E87DD-942F-4BC6-8B0A-AD77A43FAEB8}" type="slidenum">
              <a:rPr lang="en-GB" smtClean="0"/>
              <a:t>‹#›</a:t>
            </a:fld>
            <a:endParaRPr lang="en-GB"/>
          </a:p>
        </p:txBody>
      </p:sp>
    </p:spTree>
    <p:extLst>
      <p:ext uri="{BB962C8B-B14F-4D97-AF65-F5344CB8AC3E}">
        <p14:creationId xmlns:p14="http://schemas.microsoft.com/office/powerpoint/2010/main" val="116997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773110-9E06-4305-BB88-6CE30170EF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6EDDA65-2122-4540-A8A8-613C250052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2BDC3BF-D813-4334-9B92-66B5C84C47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F916F1-63C1-4BFA-BBFA-F9ABFF67FA6A}" type="datetimeFigureOut">
              <a:rPr lang="en-GB" smtClean="0"/>
              <a:t>16/12/2021</a:t>
            </a:fld>
            <a:endParaRPr lang="en-GB"/>
          </a:p>
        </p:txBody>
      </p:sp>
      <p:sp>
        <p:nvSpPr>
          <p:cNvPr id="5" name="Footer Placeholder 4">
            <a:extLst>
              <a:ext uri="{FF2B5EF4-FFF2-40B4-BE49-F238E27FC236}">
                <a16:creationId xmlns:a16="http://schemas.microsoft.com/office/drawing/2014/main" id="{F57B98F3-AFD3-41D4-B5D8-5EEF730F95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B29AD0A-5640-4C9E-BD8D-60918CB530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7E87DD-942F-4BC6-8B0A-AD77A43FAEB8}" type="slidenum">
              <a:rPr lang="en-GB" smtClean="0"/>
              <a:t>‹#›</a:t>
            </a:fld>
            <a:endParaRPr lang="en-GB"/>
          </a:p>
        </p:txBody>
      </p:sp>
    </p:spTree>
    <p:extLst>
      <p:ext uri="{BB962C8B-B14F-4D97-AF65-F5344CB8AC3E}">
        <p14:creationId xmlns:p14="http://schemas.microsoft.com/office/powerpoint/2010/main" val="4013645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852182" y="243280"/>
            <a:ext cx="10487636" cy="3481431"/>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solidFill>
                <a:srgbClr val="4690CD"/>
              </a:solidFill>
            </a:endParaRPr>
          </a:p>
        </p:txBody>
      </p:sp>
      <p:sp>
        <p:nvSpPr>
          <p:cNvPr id="25" name="Rectangle 24"/>
          <p:cNvSpPr/>
          <p:nvPr/>
        </p:nvSpPr>
        <p:spPr>
          <a:xfrm>
            <a:off x="3048000" y="3888433"/>
            <a:ext cx="6096000" cy="2862322"/>
          </a:xfrm>
          <a:prstGeom prst="rect">
            <a:avLst/>
          </a:prstGeom>
        </p:spPr>
        <p:txBody>
          <a:bodyPr lIns="91440" tIns="45720" rIns="91440" bIns="45720" anchor="t">
            <a:spAutoFit/>
          </a:bodyPr>
          <a:lstStyle/>
          <a:p>
            <a:pPr lvl="0" algn="ctr"/>
            <a:r>
              <a:rPr lang="en-US" sz="1400" dirty="0">
                <a:solidFill>
                  <a:srgbClr val="9EDAE5"/>
                </a:solidFill>
                <a:latin typeface="Georgia Pro" panose="02040502050405020303" pitchFamily="18" charset="0"/>
              </a:rPr>
              <a:t>Pleistocene glacial terminations triggered by synchronous changes</a:t>
            </a:r>
          </a:p>
          <a:p>
            <a:pPr lvl="0" algn="ctr"/>
            <a:r>
              <a:rPr lang="en-US" sz="1400" dirty="0">
                <a:solidFill>
                  <a:srgbClr val="9EDAE5"/>
                </a:solidFill>
                <a:latin typeface="Georgia Pro" panose="02040502050405020303" pitchFamily="18" charset="0"/>
              </a:rPr>
              <a:t>in Southern and Northern Hemisphere insolation:</a:t>
            </a:r>
          </a:p>
          <a:p>
            <a:pPr lvl="0" algn="ctr"/>
            <a:r>
              <a:rPr lang="en-US" sz="1400" dirty="0">
                <a:solidFill>
                  <a:srgbClr val="9EDAE5"/>
                </a:solidFill>
                <a:latin typeface="Georgia Pro" panose="02040502050405020303" pitchFamily="18" charset="0"/>
              </a:rPr>
              <a:t>The insolation canon hypothesis</a:t>
            </a:r>
          </a:p>
          <a:p>
            <a:pPr lvl="0" algn="ctr"/>
            <a:endParaRPr lang="en-US" sz="1400" dirty="0">
              <a:solidFill>
                <a:srgbClr val="9EDAE5"/>
              </a:solidFill>
              <a:latin typeface="Georgia Pro" panose="02040502050405020303" pitchFamily="18" charset="0"/>
            </a:endParaRPr>
          </a:p>
          <a:p>
            <a:pPr lvl="0" algn="ctr"/>
            <a:r>
              <a:rPr lang="de-DE" sz="1000" dirty="0">
                <a:solidFill>
                  <a:srgbClr val="9EDAE5"/>
                </a:solidFill>
                <a:latin typeface="Georgia Pro" panose="02040502050405020303" pitchFamily="18" charset="0"/>
              </a:rPr>
              <a:t>K.G. Schulz and R.E. Zeebe</a:t>
            </a:r>
          </a:p>
          <a:p>
            <a:pPr lvl="0" algn="ctr"/>
            <a:endParaRPr lang="en-US" sz="1000" dirty="0">
              <a:solidFill>
                <a:srgbClr val="9EDAE5"/>
              </a:solidFill>
              <a:latin typeface="Georgia Pro" panose="02040502050405020303" pitchFamily="18" charset="0"/>
            </a:endParaRPr>
          </a:p>
          <a:p>
            <a:pPr lvl="0" algn="ctr"/>
            <a:endParaRPr lang="nl-NL" sz="1400" dirty="0">
              <a:solidFill>
                <a:srgbClr val="4690CD"/>
              </a:solidFill>
              <a:latin typeface="Georgia" panose="02040502050405020303" pitchFamily="18" charset="0"/>
            </a:endParaRPr>
          </a:p>
          <a:p>
            <a:pPr lvl="0" algn="ctr"/>
            <a:r>
              <a:rPr lang="en-US" sz="1000" dirty="0">
                <a:solidFill>
                  <a:srgbClr val="4690CD"/>
                </a:solidFill>
                <a:latin typeface="georgia" panose="02040502050405020303" pitchFamily="18" charset="0"/>
              </a:rPr>
              <a:t>         </a:t>
            </a:r>
            <a:br>
              <a:rPr lang="en-US" sz="1000" dirty="0">
                <a:solidFill>
                  <a:srgbClr val="4690CD"/>
                </a:solidFill>
                <a:latin typeface="arial" panose="020B0604020202020204" pitchFamily="34" charset="0"/>
              </a:rPr>
            </a:br>
            <a:endParaRPr lang="en-US" sz="1000" dirty="0">
              <a:solidFill>
                <a:srgbClr val="4690CD"/>
              </a:solidFill>
              <a:latin typeface="arial" panose="020B0604020202020204" pitchFamily="34" charset="0"/>
              <a:cs typeface="arial" panose="020B0604020202020204" pitchFamily="34" charset="0"/>
            </a:endParaRPr>
          </a:p>
          <a:p>
            <a:pPr lvl="0" algn="ctr"/>
            <a:endParaRPr lang="en-US" sz="1400" dirty="0">
              <a:solidFill>
                <a:srgbClr val="4690CD"/>
              </a:solidFill>
              <a:latin typeface="arial" panose="020B0604020202020204" pitchFamily="34" charset="0"/>
            </a:endParaRPr>
          </a:p>
          <a:p>
            <a:pPr lvl="0" algn="ctr"/>
            <a:endParaRPr lang="en-US" sz="1400" dirty="0">
              <a:solidFill>
                <a:srgbClr val="4690CD"/>
              </a:solidFill>
              <a:latin typeface="arial" panose="020B0604020202020204" pitchFamily="34" charset="0"/>
            </a:endParaRPr>
          </a:p>
          <a:p>
            <a:pPr lvl="0" algn="ctr"/>
            <a:endParaRPr lang="en-US" sz="1400" dirty="0">
              <a:solidFill>
                <a:srgbClr val="4690CD"/>
              </a:solidFill>
              <a:latin typeface="arial" panose="020B0604020202020204" pitchFamily="34" charset="0"/>
            </a:endParaRPr>
          </a:p>
          <a:p>
            <a:pPr lvl="0" algn="ctr"/>
            <a:endParaRPr lang="en-US" sz="1400" dirty="0">
              <a:solidFill>
                <a:srgbClr val="4690CD"/>
              </a:solidFill>
              <a:latin typeface="arial" panose="020B0604020202020204" pitchFamily="34" charset="0"/>
            </a:endParaRPr>
          </a:p>
          <a:p>
            <a:pPr algn="ctr"/>
            <a:r>
              <a:rPr lang="en-US" sz="1400" dirty="0">
                <a:solidFill>
                  <a:srgbClr val="9EDAE5"/>
                </a:solidFill>
                <a:latin typeface="georgia"/>
              </a:rPr>
              <a:t> </a:t>
            </a:r>
            <a:r>
              <a:rPr lang="en-US" sz="1400" dirty="0">
                <a:solidFill>
                  <a:srgbClr val="9EDAE5"/>
                </a:solidFill>
                <a:latin typeface="Georgia Pro" panose="02040502050405020303" pitchFamily="18" charset="0"/>
              </a:rPr>
              <a:t>*********</a:t>
            </a:r>
          </a:p>
        </p:txBody>
      </p:sp>
      <p:sp>
        <p:nvSpPr>
          <p:cNvPr id="26" name="Footer Placeholder 25"/>
          <p:cNvSpPr>
            <a:spLocks noGrp="1"/>
          </p:cNvSpPr>
          <p:nvPr>
            <p:ph type="ftr" sz="quarter" idx="11"/>
          </p:nvPr>
        </p:nvSpPr>
        <p:spPr>
          <a:xfrm>
            <a:off x="-1239795" y="6448253"/>
            <a:ext cx="4114800" cy="365125"/>
          </a:xfrm>
        </p:spPr>
        <p:txBody>
          <a:bodyPr/>
          <a:lstStyle/>
          <a:p>
            <a:r>
              <a:rPr lang="nl-NL" sz="1000" dirty="0">
                <a:solidFill>
                  <a:srgbClr val="9EDAE5"/>
                </a:solidFill>
                <a:latin typeface="Georgia Pro" panose="02040502050405020303" pitchFamily="18" charset="0"/>
              </a:rPr>
              <a:t>Qi-fan Wu</a:t>
            </a:r>
          </a:p>
        </p:txBody>
      </p:sp>
      <p:sp>
        <p:nvSpPr>
          <p:cNvPr id="2" name="TextBox 1"/>
          <p:cNvSpPr txBox="1"/>
          <p:nvPr/>
        </p:nvSpPr>
        <p:spPr>
          <a:xfrm>
            <a:off x="3344572" y="5042595"/>
            <a:ext cx="5502855" cy="276999"/>
          </a:xfrm>
          <a:prstGeom prst="rect">
            <a:avLst/>
          </a:prstGeom>
          <a:noFill/>
        </p:spPr>
        <p:txBody>
          <a:bodyPr wrap="square" rtlCol="0">
            <a:spAutoFit/>
          </a:bodyPr>
          <a:lstStyle/>
          <a:p>
            <a:pPr algn="ctr"/>
            <a:r>
              <a:rPr lang="nl-NL" sz="1200" dirty="0">
                <a:solidFill>
                  <a:srgbClr val="9EDAE5"/>
                </a:solidFill>
                <a:latin typeface="Georgia Pro" panose="020B0604020202020204" pitchFamily="18" charset="0"/>
                <a:ea typeface="Cambria Math" panose="02040503050406030204" pitchFamily="18" charset="0"/>
              </a:rPr>
              <a:t>A </a:t>
            </a:r>
            <a:r>
              <a:rPr lang="en-GB" sz="1200" dirty="0">
                <a:solidFill>
                  <a:srgbClr val="9EDAE5"/>
                </a:solidFill>
                <a:latin typeface="Georgia Pro" panose="020B0604020202020204" pitchFamily="18" charset="0"/>
                <a:ea typeface="Cambria Math" panose="02040503050406030204" pitchFamily="18" charset="0"/>
              </a:rPr>
              <a:t>Literature</a:t>
            </a:r>
            <a:r>
              <a:rPr lang="nl-NL" sz="1200" dirty="0">
                <a:solidFill>
                  <a:srgbClr val="9EDAE5"/>
                </a:solidFill>
                <a:latin typeface="Georgia Pro" panose="020B0604020202020204" pitchFamily="18" charset="0"/>
                <a:ea typeface="Cambria Math" panose="02040503050406030204" pitchFamily="18" charset="0"/>
              </a:rPr>
              <a:t> Review</a:t>
            </a:r>
          </a:p>
        </p:txBody>
      </p:sp>
    </p:spTree>
    <p:extLst>
      <p:ext uri="{BB962C8B-B14F-4D97-AF65-F5344CB8AC3E}">
        <p14:creationId xmlns:p14="http://schemas.microsoft.com/office/powerpoint/2010/main" val="170883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2954ED9-08F2-4CCF-BEFC-81150668ED31}"/>
              </a:ext>
            </a:extLst>
          </p:cNvPr>
          <p:cNvSpPr/>
          <p:nvPr/>
        </p:nvSpPr>
        <p:spPr>
          <a:xfrm rot="5400000">
            <a:off x="3160160" y="3367443"/>
            <a:ext cx="5838091" cy="87942"/>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 name="Straight Connector 3"/>
          <p:cNvCxnSpPr/>
          <p:nvPr/>
        </p:nvCxnSpPr>
        <p:spPr>
          <a:xfrm flipH="1">
            <a:off x="6096000" y="492367"/>
            <a:ext cx="7815" cy="5838092"/>
          </a:xfrm>
          <a:prstGeom prst="line">
            <a:avLst/>
          </a:prstGeom>
          <a:ln w="3175">
            <a:solidFill>
              <a:srgbClr val="30CCD6"/>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455508" y="492367"/>
            <a:ext cx="5064369" cy="2649418"/>
          </a:xfrm>
          <a:prstGeom prst="rect">
            <a:avLst/>
          </a:prstGeom>
          <a:noFill/>
          <a:ln w="3175">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solidFill>
                <a:srgbClr val="4690CD"/>
              </a:solidFill>
            </a:endParaRPr>
          </a:p>
        </p:txBody>
      </p:sp>
      <p:sp>
        <p:nvSpPr>
          <p:cNvPr id="7" name="Rectangle 6"/>
          <p:cNvSpPr/>
          <p:nvPr/>
        </p:nvSpPr>
        <p:spPr>
          <a:xfrm>
            <a:off x="6455508" y="3669318"/>
            <a:ext cx="5064369" cy="2649418"/>
          </a:xfrm>
          <a:prstGeom prst="rect">
            <a:avLst/>
          </a:prstGeom>
          <a:noFill/>
          <a:ln w="3175">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Rectangle 7"/>
          <p:cNvSpPr/>
          <p:nvPr/>
        </p:nvSpPr>
        <p:spPr>
          <a:xfrm>
            <a:off x="6455508" y="3669318"/>
            <a:ext cx="5064369" cy="312618"/>
          </a:xfrm>
          <a:prstGeom prst="rect">
            <a:avLst/>
          </a:prstGeom>
          <a:noFill/>
          <a:ln w="3175">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rgbClr val="30CDD7"/>
                </a:solidFill>
                <a:latin typeface="Georgia" panose="02040502050405020303" pitchFamily="18" charset="0"/>
              </a:rPr>
              <a:t>Background</a:t>
            </a:r>
            <a:endParaRPr lang="nl-NL" sz="1000" dirty="0">
              <a:solidFill>
                <a:srgbClr val="30CDD7"/>
              </a:solidFill>
              <a:latin typeface="Georgia" panose="02040502050405020303" pitchFamily="18" charset="0"/>
            </a:endParaRPr>
          </a:p>
        </p:txBody>
      </p:sp>
      <p:sp>
        <p:nvSpPr>
          <p:cNvPr id="6" name="Rectangle 5"/>
          <p:cNvSpPr/>
          <p:nvPr/>
        </p:nvSpPr>
        <p:spPr>
          <a:xfrm>
            <a:off x="6455508" y="492367"/>
            <a:ext cx="5064369" cy="312618"/>
          </a:xfrm>
          <a:prstGeom prst="rect">
            <a:avLst/>
          </a:prstGeom>
          <a:noFill/>
          <a:ln w="3175">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rgbClr val="30CDD7"/>
                </a:solidFill>
                <a:latin typeface="Georgia Pro" panose="02040502050405020303" pitchFamily="18" charset="0"/>
                <a:ea typeface="Cambria Math" panose="02040503050406030204" pitchFamily="18" charset="0"/>
              </a:rPr>
              <a:t>Background</a:t>
            </a:r>
            <a:endParaRPr lang="nl-NL" sz="1000" dirty="0">
              <a:solidFill>
                <a:srgbClr val="30CDD7"/>
              </a:solidFill>
              <a:latin typeface="Georgia Pro" panose="02040502050405020303" pitchFamily="18" charset="0"/>
              <a:ea typeface="Cambria Math" panose="02040503050406030204" pitchFamily="18" charset="0"/>
            </a:endParaRPr>
          </a:p>
        </p:txBody>
      </p:sp>
      <p:sp>
        <p:nvSpPr>
          <p:cNvPr id="9" name="TextBox 8"/>
          <p:cNvSpPr txBox="1"/>
          <p:nvPr/>
        </p:nvSpPr>
        <p:spPr>
          <a:xfrm>
            <a:off x="1486222" y="936010"/>
            <a:ext cx="4110893" cy="4985980"/>
          </a:xfrm>
          <a:prstGeom prst="rect">
            <a:avLst/>
          </a:prstGeom>
          <a:noFill/>
        </p:spPr>
        <p:txBody>
          <a:bodyPr wrap="square" rtlCol="0">
            <a:spAutoFit/>
          </a:bodyPr>
          <a:lstStyle/>
          <a:p>
            <a:pPr marL="285750" indent="-285750">
              <a:buFontTx/>
              <a:buChar char="-"/>
            </a:pPr>
            <a:r>
              <a:rPr lang="en-US" sz="1200" dirty="0">
                <a:solidFill>
                  <a:srgbClr val="30CDD7"/>
                </a:solidFill>
                <a:latin typeface="Georgia Pro" panose="02040502050405020303" pitchFamily="18" charset="0"/>
              </a:rPr>
              <a:t>Introduction</a:t>
            </a:r>
          </a:p>
          <a:p>
            <a:pPr marL="285750" indent="-285750">
              <a:buFontTx/>
              <a:buChar char="-"/>
            </a:pPr>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GB" sz="1200" dirty="0">
                <a:solidFill>
                  <a:srgbClr val="30CDD7"/>
                </a:solidFill>
                <a:latin typeface="Georgia Pro" panose="02040502050405020303" pitchFamily="18" charset="0"/>
              </a:rPr>
              <a:t>Methods</a:t>
            </a:r>
          </a:p>
          <a:p>
            <a:endParaRPr lang="nl-NL" sz="1200" dirty="0">
              <a:solidFill>
                <a:srgbClr val="30CDD7"/>
              </a:solidFill>
              <a:latin typeface="Georgia Pro" panose="02040502050405020303" pitchFamily="18" charset="0"/>
            </a:endParaRPr>
          </a:p>
          <a:p>
            <a:pPr marL="285750" indent="-285750">
              <a:buFontTx/>
              <a:buChar char="-"/>
            </a:pPr>
            <a:endParaRPr lang="nl-NL"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 Results and discussion</a:t>
            </a:r>
          </a:p>
          <a:p>
            <a:pPr marL="285750" indent="-285750">
              <a:buFontTx/>
              <a:buChar char="-"/>
            </a:pPr>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The overlaps</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The insolation canon</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Origin of overlaps</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The three classical problems</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Leads and lags around a termination: Phase</a:t>
            </a:r>
          </a:p>
          <a:p>
            <a:r>
              <a:rPr lang="en-US" sz="1200" dirty="0">
                <a:solidFill>
                  <a:srgbClr val="30CDD7"/>
                </a:solidFill>
                <a:latin typeface="Georgia Pro" panose="02040502050405020303" pitchFamily="18" charset="0"/>
              </a:rPr>
              <a:t>           differences between NH and SH?</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Possible feedback mechanisms</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The future</a:t>
            </a: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Summary and conclusions</a:t>
            </a:r>
          </a:p>
          <a:p>
            <a:endParaRPr lang="nl-NL" dirty="0"/>
          </a:p>
        </p:txBody>
      </p:sp>
      <p:sp>
        <p:nvSpPr>
          <p:cNvPr id="11" name="Rectangle 10">
            <a:extLst>
              <a:ext uri="{FF2B5EF4-FFF2-40B4-BE49-F238E27FC236}">
                <a16:creationId xmlns:a16="http://schemas.microsoft.com/office/drawing/2014/main" id="{420A3E79-817B-4A84-8941-8A3B85F74D95}"/>
              </a:ext>
            </a:extLst>
          </p:cNvPr>
          <p:cNvSpPr/>
          <p:nvPr/>
        </p:nvSpPr>
        <p:spPr>
          <a:xfrm>
            <a:off x="6602700" y="4055576"/>
            <a:ext cx="4584846" cy="2064551"/>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ooter Placeholder 25">
            <a:extLst>
              <a:ext uri="{FF2B5EF4-FFF2-40B4-BE49-F238E27FC236}">
                <a16:creationId xmlns:a16="http://schemas.microsoft.com/office/drawing/2014/main" id="{5A5DCE81-C52C-49AB-85EC-597E4C4755FB}"/>
              </a:ext>
            </a:extLst>
          </p:cNvPr>
          <p:cNvSpPr>
            <a:spLocks noGrp="1"/>
          </p:cNvSpPr>
          <p:nvPr>
            <p:ph type="ftr" sz="quarter" idx="11"/>
          </p:nvPr>
        </p:nvSpPr>
        <p:spPr>
          <a:xfrm>
            <a:off x="-1055237" y="6492875"/>
            <a:ext cx="4114800" cy="365125"/>
          </a:xfrm>
        </p:spPr>
        <p:txBody>
          <a:bodyPr/>
          <a:lstStyle/>
          <a:p>
            <a:pPr algn="l"/>
            <a:r>
              <a:rPr lang="en-GB" sz="1000" dirty="0">
                <a:solidFill>
                  <a:srgbClr val="9EDAE5"/>
                </a:solidFill>
                <a:latin typeface="Georgia Pro" panose="02040502050405020303" pitchFamily="18" charset="0"/>
              </a:rPr>
              <a:t>                                             </a:t>
            </a:r>
            <a:r>
              <a:rPr lang="en-GB" sz="1000" dirty="0" err="1">
                <a:solidFill>
                  <a:srgbClr val="30CDD7"/>
                </a:solidFill>
                <a:latin typeface="Georgia Pro" panose="02040502050405020303" pitchFamily="18" charset="0"/>
              </a:rPr>
              <a:t>Lisiencki</a:t>
            </a:r>
            <a:r>
              <a:rPr lang="en-GB" sz="1000" dirty="0">
                <a:solidFill>
                  <a:srgbClr val="30CDD7"/>
                </a:solidFill>
                <a:latin typeface="Georgia Pro" panose="02040502050405020303" pitchFamily="18" charset="0"/>
              </a:rPr>
              <a:t> and </a:t>
            </a:r>
            <a:r>
              <a:rPr lang="en-GB" sz="1000" dirty="0" err="1">
                <a:solidFill>
                  <a:srgbClr val="30CDD7"/>
                </a:solidFill>
                <a:latin typeface="Georgia Pro" panose="02040502050405020303" pitchFamily="18" charset="0"/>
              </a:rPr>
              <a:t>Raymo</a:t>
            </a:r>
            <a:r>
              <a:rPr lang="en-GB" sz="1000" dirty="0">
                <a:solidFill>
                  <a:srgbClr val="30CDD7"/>
                </a:solidFill>
                <a:latin typeface="Georgia Pro" panose="02040502050405020303" pitchFamily="18" charset="0"/>
              </a:rPr>
              <a:t> (2005)</a:t>
            </a:r>
          </a:p>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pic>
        <p:nvPicPr>
          <p:cNvPr id="1026" name="Picture 2">
            <a:extLst>
              <a:ext uri="{FF2B5EF4-FFF2-40B4-BE49-F238E27FC236}">
                <a16:creationId xmlns:a16="http://schemas.microsoft.com/office/drawing/2014/main" id="{D4946E4A-3C2A-4AFC-8986-72D7042098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4145" y="908930"/>
            <a:ext cx="4223401" cy="2232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087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3702B8-854B-4FD9-AB06-02F9617E6FD5}"/>
              </a:ext>
            </a:extLst>
          </p:cNvPr>
          <p:cNvSpPr/>
          <p:nvPr/>
        </p:nvSpPr>
        <p:spPr>
          <a:xfrm>
            <a:off x="876829" y="507998"/>
            <a:ext cx="1053494" cy="276999"/>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Introduction</a:t>
            </a:r>
          </a:p>
        </p:txBody>
      </p:sp>
      <p:pic>
        <p:nvPicPr>
          <p:cNvPr id="8" name="Picture 7">
            <a:extLst>
              <a:ext uri="{FF2B5EF4-FFF2-40B4-BE49-F238E27FC236}">
                <a16:creationId xmlns:a16="http://schemas.microsoft.com/office/drawing/2014/main" id="{09420779-A005-4E9F-AB0B-F83E08421CBF}"/>
              </a:ext>
            </a:extLst>
          </p:cNvPr>
          <p:cNvPicPr>
            <a:picLocks noChangeAspect="1"/>
          </p:cNvPicPr>
          <p:nvPr/>
        </p:nvPicPr>
        <p:blipFill>
          <a:blip r:embed="rId2"/>
          <a:stretch>
            <a:fillRect/>
          </a:stretch>
        </p:blipFill>
        <p:spPr>
          <a:xfrm>
            <a:off x="4206240" y="784997"/>
            <a:ext cx="7872270" cy="5293737"/>
          </a:xfrm>
          <a:prstGeom prst="rect">
            <a:avLst/>
          </a:prstGeom>
        </p:spPr>
      </p:pic>
      <p:sp>
        <p:nvSpPr>
          <p:cNvPr id="2" name="Rectangle 1">
            <a:extLst>
              <a:ext uri="{FF2B5EF4-FFF2-40B4-BE49-F238E27FC236}">
                <a16:creationId xmlns:a16="http://schemas.microsoft.com/office/drawing/2014/main" id="{B812DB85-5AB6-4FFB-91BF-6C4EE97F0F3D}"/>
              </a:ext>
            </a:extLst>
          </p:cNvPr>
          <p:cNvSpPr/>
          <p:nvPr/>
        </p:nvSpPr>
        <p:spPr>
          <a:xfrm>
            <a:off x="4880608" y="3516097"/>
            <a:ext cx="2403654" cy="68580"/>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9C7FF77-68BF-4723-A76C-704C6FA279EA}"/>
              </a:ext>
            </a:extLst>
          </p:cNvPr>
          <p:cNvSpPr/>
          <p:nvPr/>
        </p:nvSpPr>
        <p:spPr>
          <a:xfrm rot="5400000" flipV="1">
            <a:off x="4761357" y="3386660"/>
            <a:ext cx="311351" cy="72850"/>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AA9E1D3-A192-4DFB-9B52-13BD4E124AF9}"/>
              </a:ext>
            </a:extLst>
          </p:cNvPr>
          <p:cNvSpPr/>
          <p:nvPr/>
        </p:nvSpPr>
        <p:spPr>
          <a:xfrm>
            <a:off x="4880608" y="3239034"/>
            <a:ext cx="2403654" cy="68580"/>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78FE4410-CB95-4AB2-B58E-CD75E698CB74}"/>
              </a:ext>
            </a:extLst>
          </p:cNvPr>
          <p:cNvSpPr/>
          <p:nvPr/>
        </p:nvSpPr>
        <p:spPr>
          <a:xfrm rot="5400000">
            <a:off x="7105727" y="3388462"/>
            <a:ext cx="311351" cy="45719"/>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id="{022FBD40-0B95-4179-9609-3D62A7F25AC3}"/>
              </a:ext>
            </a:extLst>
          </p:cNvPr>
          <p:cNvCxnSpPr>
            <a:cxnSpLocks/>
          </p:cNvCxnSpPr>
          <p:nvPr/>
        </p:nvCxnSpPr>
        <p:spPr>
          <a:xfrm>
            <a:off x="2541534" y="3307614"/>
            <a:ext cx="2304018" cy="0"/>
          </a:xfrm>
          <a:prstGeom prst="line">
            <a:avLst/>
          </a:prstGeom>
          <a:ln w="12700" cap="flat" cmpd="sng" algn="ctr">
            <a:solidFill>
              <a:srgbClr val="30CDD7"/>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9948FE28-8114-4E08-9BF3-DAA7FE7DE241}"/>
              </a:ext>
            </a:extLst>
          </p:cNvPr>
          <p:cNvSpPr txBox="1"/>
          <p:nvPr/>
        </p:nvSpPr>
        <p:spPr>
          <a:xfrm>
            <a:off x="2488760" y="3100534"/>
            <a:ext cx="2225202" cy="276999"/>
          </a:xfrm>
          <a:prstGeom prst="rect">
            <a:avLst/>
          </a:prstGeom>
          <a:noFill/>
        </p:spPr>
        <p:txBody>
          <a:bodyPr wrap="square">
            <a:spAutoFit/>
          </a:bodyPr>
          <a:lstStyle/>
          <a:p>
            <a:r>
              <a:rPr lang="en-US" sz="1200" dirty="0">
                <a:solidFill>
                  <a:srgbClr val="30CDD7"/>
                </a:solidFill>
                <a:latin typeface="Georgia Pro" panose="02040502050405020303" pitchFamily="18" charset="0"/>
              </a:rPr>
              <a:t>The seven glacial terminations</a:t>
            </a:r>
            <a:endParaRPr lang="en-GB" sz="1200" dirty="0">
              <a:solidFill>
                <a:srgbClr val="30CDD7"/>
              </a:solidFill>
              <a:latin typeface="Georgia Pro" panose="02040502050405020303" pitchFamily="18" charset="0"/>
            </a:endParaRPr>
          </a:p>
        </p:txBody>
      </p:sp>
      <p:sp>
        <p:nvSpPr>
          <p:cNvPr id="13" name="TextBox 12">
            <a:extLst>
              <a:ext uri="{FF2B5EF4-FFF2-40B4-BE49-F238E27FC236}">
                <a16:creationId xmlns:a16="http://schemas.microsoft.com/office/drawing/2014/main" id="{A1221F76-BFDC-46DA-AB5F-8CF53C43F4D6}"/>
              </a:ext>
            </a:extLst>
          </p:cNvPr>
          <p:cNvSpPr txBox="1"/>
          <p:nvPr/>
        </p:nvSpPr>
        <p:spPr>
          <a:xfrm>
            <a:off x="876829" y="884543"/>
            <a:ext cx="3329411" cy="4801314"/>
          </a:xfrm>
          <a:prstGeom prst="rect">
            <a:avLst/>
          </a:prstGeom>
          <a:noFill/>
        </p:spPr>
        <p:txBody>
          <a:bodyPr wrap="square" rtlCol="0">
            <a:spAutoFit/>
          </a:bodyPr>
          <a:lstStyle/>
          <a:p>
            <a:pPr marL="285750" indent="-285750">
              <a:buFontTx/>
              <a:buChar char="-"/>
            </a:pPr>
            <a:r>
              <a:rPr lang="en-US" sz="1200" dirty="0">
                <a:solidFill>
                  <a:srgbClr val="30CDD7"/>
                </a:solidFill>
                <a:latin typeface="Georgia Pro" panose="02040502050405020303" pitchFamily="18" charset="0"/>
              </a:rPr>
              <a:t>Comparison of climate variability in the Late Pleistocene (100 kyr world) and the Early Pleistocene (41 kyr world).</a:t>
            </a: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Earth has gone through large climatic shifts during the Late Pleistocene, with seven major glaciations</a:t>
            </a: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A 41 kyr periodicity from the Early Pleistocene, marking the Mid Pleistocene Revolution (MPR).</a:t>
            </a: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100 kyr glacial/interglacial cycles</a:t>
            </a: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endParaRPr lang="nl-NL" dirty="0"/>
          </a:p>
        </p:txBody>
      </p:sp>
      <p:sp>
        <p:nvSpPr>
          <p:cNvPr id="14" name="Footer Placeholder 25">
            <a:extLst>
              <a:ext uri="{FF2B5EF4-FFF2-40B4-BE49-F238E27FC236}">
                <a16:creationId xmlns:a16="http://schemas.microsoft.com/office/drawing/2014/main" id="{55F26471-F74D-4BBA-B35C-15C2CA865F2A}"/>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spTree>
    <p:extLst>
      <p:ext uri="{BB962C8B-B14F-4D97-AF65-F5344CB8AC3E}">
        <p14:creationId xmlns:p14="http://schemas.microsoft.com/office/powerpoint/2010/main" val="3427687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3702B8-854B-4FD9-AB06-02F9617E6FD5}"/>
              </a:ext>
            </a:extLst>
          </p:cNvPr>
          <p:cNvSpPr/>
          <p:nvPr/>
        </p:nvSpPr>
        <p:spPr>
          <a:xfrm>
            <a:off x="876829" y="507998"/>
            <a:ext cx="780983" cy="276999"/>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Methods</a:t>
            </a:r>
          </a:p>
        </p:txBody>
      </p:sp>
      <p:pic>
        <p:nvPicPr>
          <p:cNvPr id="1026" name="Picture 2" descr="Arctic antarctic Pole polar">
            <a:extLst>
              <a:ext uri="{FF2B5EF4-FFF2-40B4-BE49-F238E27FC236}">
                <a16:creationId xmlns:a16="http://schemas.microsoft.com/office/drawing/2014/main" id="{3E3271C7-0C44-4460-B700-BE867C965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829" y="1381326"/>
            <a:ext cx="5505146" cy="43677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rctic antarctic Pole polar">
            <a:extLst>
              <a:ext uri="{FF2B5EF4-FFF2-40B4-BE49-F238E27FC236}">
                <a16:creationId xmlns:a16="http://schemas.microsoft.com/office/drawing/2014/main" id="{D35E403F-2A86-4078-A69B-B7915F59C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975" y="1381327"/>
            <a:ext cx="5505146" cy="4367719"/>
          </a:xfrm>
          <a:prstGeom prst="rect">
            <a:avLst/>
          </a:prstGeom>
          <a:noFill/>
          <a:extLst>
            <a:ext uri="{909E8E84-426E-40DD-AFC4-6F175D3DCCD1}">
              <a14:hiddenFill xmlns:a14="http://schemas.microsoft.com/office/drawing/2010/main">
                <a:solidFill>
                  <a:srgbClr val="FFFFFF"/>
                </a:solidFill>
              </a14:hiddenFill>
            </a:ext>
          </a:extLst>
        </p:spPr>
      </p:pic>
      <p:sp>
        <p:nvSpPr>
          <p:cNvPr id="5" name="Circle: Hollow 4">
            <a:extLst>
              <a:ext uri="{FF2B5EF4-FFF2-40B4-BE49-F238E27FC236}">
                <a16:creationId xmlns:a16="http://schemas.microsoft.com/office/drawing/2014/main" id="{A3FBF71E-5E69-4A4F-883C-B95C7995AEC9}"/>
              </a:ext>
            </a:extLst>
          </p:cNvPr>
          <p:cNvSpPr/>
          <p:nvPr/>
        </p:nvSpPr>
        <p:spPr>
          <a:xfrm>
            <a:off x="6652716" y="156061"/>
            <a:ext cx="928459" cy="905935"/>
          </a:xfrm>
          <a:prstGeom prst="donut">
            <a:avLst/>
          </a:prstGeom>
          <a:gradFill flip="none" rotWithShape="1">
            <a:gsLst>
              <a:gs pos="58000">
                <a:srgbClr val="9EDBDD"/>
              </a:gs>
              <a:gs pos="45000">
                <a:srgbClr val="89C6D1"/>
              </a:gs>
              <a:gs pos="25000">
                <a:srgbClr val="ABE5E2"/>
              </a:gs>
              <a:gs pos="8000">
                <a:srgbClr val="B7EFE6"/>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TextBox 5">
            <a:extLst>
              <a:ext uri="{FF2B5EF4-FFF2-40B4-BE49-F238E27FC236}">
                <a16:creationId xmlns:a16="http://schemas.microsoft.com/office/drawing/2014/main" id="{E4311918-78E1-4D65-85AF-59802814CF81}"/>
              </a:ext>
            </a:extLst>
          </p:cNvPr>
          <p:cNvSpPr txBox="1"/>
          <p:nvPr/>
        </p:nvSpPr>
        <p:spPr>
          <a:xfrm>
            <a:off x="7581175" y="784997"/>
            <a:ext cx="2413000" cy="276999"/>
          </a:xfrm>
          <a:prstGeom prst="rect">
            <a:avLst/>
          </a:prstGeom>
          <a:noFill/>
        </p:spPr>
        <p:txBody>
          <a:bodyPr wrap="square" rtlCol="0">
            <a:spAutoFit/>
          </a:bodyPr>
          <a:lstStyle/>
          <a:p>
            <a:r>
              <a:rPr lang="en-US" sz="1200" dirty="0">
                <a:solidFill>
                  <a:srgbClr val="30CDD7"/>
                </a:solidFill>
                <a:latin typeface="Georgia Pro" panose="02040502050405020303" pitchFamily="18" charset="0"/>
              </a:rPr>
              <a:t>65° latitude in both hemispheres </a:t>
            </a:r>
            <a:endParaRPr lang="en-GB" sz="1200" dirty="0">
              <a:solidFill>
                <a:srgbClr val="30CDD7"/>
              </a:solidFill>
              <a:latin typeface="Georgia Pro" panose="02040502050405020303" pitchFamily="18" charset="0"/>
            </a:endParaRPr>
          </a:p>
        </p:txBody>
      </p:sp>
      <p:sp>
        <p:nvSpPr>
          <p:cNvPr id="7" name="Circle: Hollow 6">
            <a:extLst>
              <a:ext uri="{FF2B5EF4-FFF2-40B4-BE49-F238E27FC236}">
                <a16:creationId xmlns:a16="http://schemas.microsoft.com/office/drawing/2014/main" id="{B6B04FF5-F08B-40E7-B602-31BF157F734F}"/>
              </a:ext>
            </a:extLst>
          </p:cNvPr>
          <p:cNvSpPr/>
          <p:nvPr/>
        </p:nvSpPr>
        <p:spPr>
          <a:xfrm>
            <a:off x="2446020" y="1828800"/>
            <a:ext cx="3573780" cy="3482340"/>
          </a:xfrm>
          <a:prstGeom prst="donut">
            <a:avLst>
              <a:gd name="adj" fmla="val 3117"/>
            </a:avLst>
          </a:prstGeom>
          <a:solidFill>
            <a:srgbClr val="30CDD7">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Circle: Hollow 9">
            <a:extLst>
              <a:ext uri="{FF2B5EF4-FFF2-40B4-BE49-F238E27FC236}">
                <a16:creationId xmlns:a16="http://schemas.microsoft.com/office/drawing/2014/main" id="{8D01261B-C542-4CA7-9899-E3063B24083C}"/>
              </a:ext>
            </a:extLst>
          </p:cNvPr>
          <p:cNvSpPr/>
          <p:nvPr/>
        </p:nvSpPr>
        <p:spPr>
          <a:xfrm>
            <a:off x="7406640" y="1531620"/>
            <a:ext cx="3589020" cy="3535680"/>
          </a:xfrm>
          <a:prstGeom prst="donut">
            <a:avLst>
              <a:gd name="adj" fmla="val 3117"/>
            </a:avLst>
          </a:prstGeom>
          <a:solidFill>
            <a:srgbClr val="30CDD7">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Footer Placeholder 25">
            <a:extLst>
              <a:ext uri="{FF2B5EF4-FFF2-40B4-BE49-F238E27FC236}">
                <a16:creationId xmlns:a16="http://schemas.microsoft.com/office/drawing/2014/main" id="{346FD0C5-4856-4631-B081-57F76841BB46}"/>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a:t>
            </a:r>
            <a:r>
              <a:rPr lang="en-GB" sz="1000" dirty="0" err="1">
                <a:solidFill>
                  <a:srgbClr val="30CDD7"/>
                </a:solidFill>
                <a:latin typeface="Georgia Pro" panose="02040502050405020303" pitchFamily="18" charset="0"/>
              </a:rPr>
              <a:t>Olason</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(2016)</a:t>
            </a:r>
            <a:endParaRPr lang="nl-NL" sz="1000" dirty="0">
              <a:solidFill>
                <a:srgbClr val="30CDD7"/>
              </a:solidFill>
              <a:latin typeface="Georgia Pro" panose="02040502050405020303" pitchFamily="18" charset="0"/>
            </a:endParaRPr>
          </a:p>
        </p:txBody>
      </p:sp>
    </p:spTree>
    <p:extLst>
      <p:ext uri="{BB962C8B-B14F-4D97-AF65-F5344CB8AC3E}">
        <p14:creationId xmlns:p14="http://schemas.microsoft.com/office/powerpoint/2010/main" val="2877498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A58EBB-9E4D-4C0D-ACC2-E3165440F850}"/>
              </a:ext>
            </a:extLst>
          </p:cNvPr>
          <p:cNvSpPr/>
          <p:nvPr/>
        </p:nvSpPr>
        <p:spPr>
          <a:xfrm>
            <a:off x="876829" y="507998"/>
            <a:ext cx="2707793" cy="276999"/>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Results and discussion: The overlaps </a:t>
            </a:r>
          </a:p>
        </p:txBody>
      </p:sp>
      <p:pic>
        <p:nvPicPr>
          <p:cNvPr id="6" name="Picture 5">
            <a:extLst>
              <a:ext uri="{FF2B5EF4-FFF2-40B4-BE49-F238E27FC236}">
                <a16:creationId xmlns:a16="http://schemas.microsoft.com/office/drawing/2014/main" id="{5041B738-BD7E-486E-82B0-DEFBEE3D5F43}"/>
              </a:ext>
            </a:extLst>
          </p:cNvPr>
          <p:cNvPicPr>
            <a:picLocks noChangeAspect="1"/>
          </p:cNvPicPr>
          <p:nvPr/>
        </p:nvPicPr>
        <p:blipFill>
          <a:blip r:embed="rId2"/>
          <a:stretch>
            <a:fillRect/>
          </a:stretch>
        </p:blipFill>
        <p:spPr>
          <a:xfrm>
            <a:off x="2230613" y="951077"/>
            <a:ext cx="7730773" cy="4955205"/>
          </a:xfrm>
          <a:prstGeom prst="rect">
            <a:avLst/>
          </a:prstGeom>
        </p:spPr>
      </p:pic>
      <p:sp>
        <p:nvSpPr>
          <p:cNvPr id="5" name="TextBox 4">
            <a:extLst>
              <a:ext uri="{FF2B5EF4-FFF2-40B4-BE49-F238E27FC236}">
                <a16:creationId xmlns:a16="http://schemas.microsoft.com/office/drawing/2014/main" id="{AAF2B770-300F-4612-8486-AAFE7F56480D}"/>
              </a:ext>
            </a:extLst>
          </p:cNvPr>
          <p:cNvSpPr txBox="1"/>
          <p:nvPr/>
        </p:nvSpPr>
        <p:spPr>
          <a:xfrm>
            <a:off x="9961386" y="4705953"/>
            <a:ext cx="2230502" cy="1200329"/>
          </a:xfrm>
          <a:prstGeom prst="rect">
            <a:avLst/>
          </a:prstGeom>
          <a:noFill/>
        </p:spPr>
        <p:txBody>
          <a:bodyPr wrap="square">
            <a:spAutoFit/>
          </a:bodyPr>
          <a:lstStyle/>
          <a:p>
            <a:r>
              <a:rPr lang="en-US" sz="1200" dirty="0">
                <a:solidFill>
                  <a:srgbClr val="30CDD7"/>
                </a:solidFill>
                <a:latin typeface="Georgia Pro" panose="02040502050405020303" pitchFamily="18" charset="0"/>
              </a:rPr>
              <a:t>The geologic record the insolation in both hemispheres is increasing simultaneously and that the SH increase leads the NH, a feature refer to as ‘overlap’ .</a:t>
            </a:r>
            <a:endParaRPr lang="en-GB" sz="1200" dirty="0">
              <a:solidFill>
                <a:srgbClr val="30CDD7"/>
              </a:solidFill>
              <a:latin typeface="Georgia Pro" panose="02040502050405020303" pitchFamily="18" charset="0"/>
            </a:endParaRPr>
          </a:p>
        </p:txBody>
      </p:sp>
      <p:sp>
        <p:nvSpPr>
          <p:cNvPr id="7" name="Rectangle 6">
            <a:extLst>
              <a:ext uri="{FF2B5EF4-FFF2-40B4-BE49-F238E27FC236}">
                <a16:creationId xmlns:a16="http://schemas.microsoft.com/office/drawing/2014/main" id="{F0113785-BF4B-4A1F-B276-F191CB10CBCF}"/>
              </a:ext>
            </a:extLst>
          </p:cNvPr>
          <p:cNvSpPr/>
          <p:nvPr/>
        </p:nvSpPr>
        <p:spPr>
          <a:xfrm>
            <a:off x="10168562" y="951077"/>
            <a:ext cx="112259" cy="1550631"/>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DBD79A2-61BE-458B-A56C-E5C17477E82E}"/>
              </a:ext>
            </a:extLst>
          </p:cNvPr>
          <p:cNvSpPr/>
          <p:nvPr/>
        </p:nvSpPr>
        <p:spPr>
          <a:xfrm flipH="1">
            <a:off x="10431867" y="2053201"/>
            <a:ext cx="112259" cy="1550630"/>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Footer Placeholder 25">
            <a:extLst>
              <a:ext uri="{FF2B5EF4-FFF2-40B4-BE49-F238E27FC236}">
                <a16:creationId xmlns:a16="http://schemas.microsoft.com/office/drawing/2014/main" id="{64856F4E-4227-4203-AC28-53CFD0C99470}"/>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sp>
        <p:nvSpPr>
          <p:cNvPr id="10" name="TextBox 9">
            <a:extLst>
              <a:ext uri="{FF2B5EF4-FFF2-40B4-BE49-F238E27FC236}">
                <a16:creationId xmlns:a16="http://schemas.microsoft.com/office/drawing/2014/main" id="{9DCB4988-7888-4C48-98F7-D119622296D9}"/>
              </a:ext>
            </a:extLst>
          </p:cNvPr>
          <p:cNvSpPr txBox="1"/>
          <p:nvPr/>
        </p:nvSpPr>
        <p:spPr>
          <a:xfrm>
            <a:off x="10224691" y="951077"/>
            <a:ext cx="1856065" cy="276999"/>
          </a:xfrm>
          <a:prstGeom prst="rect">
            <a:avLst/>
          </a:prstGeom>
          <a:noFill/>
        </p:spPr>
        <p:txBody>
          <a:bodyPr wrap="square">
            <a:spAutoFit/>
          </a:bodyPr>
          <a:lstStyle/>
          <a:p>
            <a:r>
              <a:rPr lang="en-US" sz="1200" dirty="0">
                <a:solidFill>
                  <a:srgbClr val="30CDD7"/>
                </a:solidFill>
                <a:latin typeface="Georgia Pro" panose="02040502050405020303" pitchFamily="18" charset="0"/>
              </a:rPr>
              <a:t>The length of an overlap</a:t>
            </a:r>
            <a:endParaRPr lang="en-GB" sz="1200" dirty="0">
              <a:solidFill>
                <a:srgbClr val="30CDD7"/>
              </a:solidFill>
              <a:latin typeface="Georgia Pro" panose="02040502050405020303" pitchFamily="18" charset="0"/>
            </a:endParaRPr>
          </a:p>
        </p:txBody>
      </p:sp>
      <p:sp>
        <p:nvSpPr>
          <p:cNvPr id="14" name="TextBox 13">
            <a:extLst>
              <a:ext uri="{FF2B5EF4-FFF2-40B4-BE49-F238E27FC236}">
                <a16:creationId xmlns:a16="http://schemas.microsoft.com/office/drawing/2014/main" id="{E2A86B34-80FC-4162-BE5D-C39267C0DF1E}"/>
              </a:ext>
            </a:extLst>
          </p:cNvPr>
          <p:cNvSpPr txBox="1"/>
          <p:nvPr/>
        </p:nvSpPr>
        <p:spPr>
          <a:xfrm>
            <a:off x="10487996" y="3326831"/>
            <a:ext cx="1961266" cy="276999"/>
          </a:xfrm>
          <a:prstGeom prst="rect">
            <a:avLst/>
          </a:prstGeom>
          <a:noFill/>
        </p:spPr>
        <p:txBody>
          <a:bodyPr wrap="square">
            <a:spAutoFit/>
          </a:bodyPr>
          <a:lstStyle/>
          <a:p>
            <a:r>
              <a:rPr lang="en-GB" sz="1200" dirty="0">
                <a:solidFill>
                  <a:srgbClr val="30CDD7"/>
                </a:solidFill>
                <a:latin typeface="Georgia Pro" panose="02040502050405020303" pitchFamily="18" charset="0"/>
              </a:rPr>
              <a:t>The total energy supply</a:t>
            </a:r>
          </a:p>
        </p:txBody>
      </p:sp>
    </p:spTree>
    <p:extLst>
      <p:ext uri="{BB962C8B-B14F-4D97-AF65-F5344CB8AC3E}">
        <p14:creationId xmlns:p14="http://schemas.microsoft.com/office/powerpoint/2010/main" val="2117120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6A66BE-5A91-421C-813B-4944BD66F9AA}"/>
              </a:ext>
            </a:extLst>
          </p:cNvPr>
          <p:cNvSpPr/>
          <p:nvPr/>
        </p:nvSpPr>
        <p:spPr>
          <a:xfrm>
            <a:off x="876829" y="507998"/>
            <a:ext cx="2707793" cy="276999"/>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Results and discussion: The overlaps </a:t>
            </a:r>
          </a:p>
        </p:txBody>
      </p:sp>
      <p:pic>
        <p:nvPicPr>
          <p:cNvPr id="6" name="Picture 5">
            <a:extLst>
              <a:ext uri="{FF2B5EF4-FFF2-40B4-BE49-F238E27FC236}">
                <a16:creationId xmlns:a16="http://schemas.microsoft.com/office/drawing/2014/main" id="{163A3617-A91D-49AC-A876-2AEF15A9BC49}"/>
              </a:ext>
            </a:extLst>
          </p:cNvPr>
          <p:cNvPicPr>
            <a:picLocks noChangeAspect="1"/>
          </p:cNvPicPr>
          <p:nvPr/>
        </p:nvPicPr>
        <p:blipFill>
          <a:blip r:embed="rId2"/>
          <a:stretch>
            <a:fillRect/>
          </a:stretch>
        </p:blipFill>
        <p:spPr>
          <a:xfrm>
            <a:off x="972274" y="951397"/>
            <a:ext cx="7730773" cy="4955205"/>
          </a:xfrm>
          <a:prstGeom prst="rect">
            <a:avLst/>
          </a:prstGeom>
        </p:spPr>
      </p:pic>
      <p:sp>
        <p:nvSpPr>
          <p:cNvPr id="5" name="Footer Placeholder 25">
            <a:extLst>
              <a:ext uri="{FF2B5EF4-FFF2-40B4-BE49-F238E27FC236}">
                <a16:creationId xmlns:a16="http://schemas.microsoft.com/office/drawing/2014/main" id="{9FD11D14-6B8D-4A56-883A-95C7303AA231}"/>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cxnSp>
        <p:nvCxnSpPr>
          <p:cNvPr id="3" name="Straight Connector 2">
            <a:extLst>
              <a:ext uri="{FF2B5EF4-FFF2-40B4-BE49-F238E27FC236}">
                <a16:creationId xmlns:a16="http://schemas.microsoft.com/office/drawing/2014/main" id="{4C0E094C-E76C-484E-B0EA-FA2C2B5F8721}"/>
              </a:ext>
            </a:extLst>
          </p:cNvPr>
          <p:cNvCxnSpPr>
            <a:cxnSpLocks/>
          </p:cNvCxnSpPr>
          <p:nvPr/>
        </p:nvCxnSpPr>
        <p:spPr>
          <a:xfrm>
            <a:off x="10246612" y="1216404"/>
            <a:ext cx="1149292" cy="0"/>
          </a:xfrm>
          <a:prstGeom prst="line">
            <a:avLst/>
          </a:prstGeom>
          <a:ln w="25400">
            <a:solidFill>
              <a:srgbClr val="E5E9FE"/>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AF90DE1-0CD5-4AD8-99F8-043D75BD3D0A}"/>
              </a:ext>
            </a:extLst>
          </p:cNvPr>
          <p:cNvCxnSpPr>
            <a:cxnSpLocks/>
          </p:cNvCxnSpPr>
          <p:nvPr/>
        </p:nvCxnSpPr>
        <p:spPr>
          <a:xfrm>
            <a:off x="10246612" y="2390208"/>
            <a:ext cx="1149292" cy="0"/>
          </a:xfrm>
          <a:prstGeom prst="line">
            <a:avLst/>
          </a:prstGeom>
          <a:ln w="25400">
            <a:solidFill>
              <a:srgbClr val="D8DEE9"/>
            </a:solidFill>
          </a:ln>
        </p:spPr>
        <p:style>
          <a:lnRef idx="1">
            <a:schemeClr val="accent1"/>
          </a:lnRef>
          <a:fillRef idx="0">
            <a:schemeClr val="accent1"/>
          </a:fillRef>
          <a:effectRef idx="0">
            <a:schemeClr val="accent1"/>
          </a:effectRef>
          <a:fontRef idx="minor">
            <a:schemeClr val="tx1"/>
          </a:fontRef>
        </p:style>
      </p:cxnSp>
      <p:sp>
        <p:nvSpPr>
          <p:cNvPr id="9" name="Flowchart: Connector 8">
            <a:extLst>
              <a:ext uri="{FF2B5EF4-FFF2-40B4-BE49-F238E27FC236}">
                <a16:creationId xmlns:a16="http://schemas.microsoft.com/office/drawing/2014/main" id="{1ED144A1-BFE0-49E4-A362-0832A771B620}"/>
              </a:ext>
            </a:extLst>
          </p:cNvPr>
          <p:cNvSpPr/>
          <p:nvPr/>
        </p:nvSpPr>
        <p:spPr>
          <a:xfrm>
            <a:off x="10246612" y="1710899"/>
            <a:ext cx="204281" cy="184815"/>
          </a:xfrm>
          <a:prstGeom prst="flowChartConnector">
            <a:avLst/>
          </a:prstGeom>
          <a:solidFill>
            <a:srgbClr val="E5E9FE"/>
          </a:solidFill>
          <a:ln>
            <a:solidFill>
              <a:srgbClr val="E5E9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Connector 9">
            <a:extLst>
              <a:ext uri="{FF2B5EF4-FFF2-40B4-BE49-F238E27FC236}">
                <a16:creationId xmlns:a16="http://schemas.microsoft.com/office/drawing/2014/main" id="{A729163A-65A2-4A99-B356-EFD919F839CD}"/>
              </a:ext>
            </a:extLst>
          </p:cNvPr>
          <p:cNvSpPr/>
          <p:nvPr/>
        </p:nvSpPr>
        <p:spPr>
          <a:xfrm>
            <a:off x="10246611" y="2884702"/>
            <a:ext cx="204281" cy="184815"/>
          </a:xfrm>
          <a:prstGeom prst="flowChartConnector">
            <a:avLst/>
          </a:prstGeom>
          <a:solidFill>
            <a:srgbClr val="D8DEE9"/>
          </a:solidFill>
          <a:ln>
            <a:solidFill>
              <a:srgbClr val="D8DE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AF7C85F-57B8-4176-B89E-7656024FC691}"/>
              </a:ext>
            </a:extLst>
          </p:cNvPr>
          <p:cNvSpPr txBox="1"/>
          <p:nvPr/>
        </p:nvSpPr>
        <p:spPr>
          <a:xfrm>
            <a:off x="9506356" y="959384"/>
            <a:ext cx="6619672" cy="246221"/>
          </a:xfrm>
          <a:prstGeom prst="rect">
            <a:avLst/>
          </a:prstGeom>
          <a:noFill/>
        </p:spPr>
        <p:txBody>
          <a:bodyPr wrap="square">
            <a:spAutoFit/>
          </a:bodyPr>
          <a:lstStyle/>
          <a:p>
            <a:r>
              <a:rPr lang="en-US" sz="1000" dirty="0">
                <a:solidFill>
                  <a:srgbClr val="30CDD7"/>
                </a:solidFill>
                <a:latin typeface="Georgia Pro" panose="02040502050405020303" pitchFamily="18" charset="0"/>
              </a:rPr>
              <a:t>Northern midsummer insolation at 65 °N</a:t>
            </a:r>
            <a:endParaRPr lang="en-GB" sz="1000" dirty="0">
              <a:solidFill>
                <a:srgbClr val="30CDD7"/>
              </a:solidFill>
              <a:latin typeface="Georgia Pro" panose="02040502050405020303" pitchFamily="18" charset="0"/>
            </a:endParaRPr>
          </a:p>
        </p:txBody>
      </p:sp>
      <p:sp>
        <p:nvSpPr>
          <p:cNvPr id="14" name="TextBox 13">
            <a:extLst>
              <a:ext uri="{FF2B5EF4-FFF2-40B4-BE49-F238E27FC236}">
                <a16:creationId xmlns:a16="http://schemas.microsoft.com/office/drawing/2014/main" id="{E03932DC-719A-4790-BC61-5EF0EAC1E258}"/>
              </a:ext>
            </a:extLst>
          </p:cNvPr>
          <p:cNvSpPr txBox="1"/>
          <p:nvPr/>
        </p:nvSpPr>
        <p:spPr>
          <a:xfrm>
            <a:off x="9961386" y="1464677"/>
            <a:ext cx="8589522" cy="246221"/>
          </a:xfrm>
          <a:prstGeom prst="rect">
            <a:avLst/>
          </a:prstGeom>
          <a:noFill/>
        </p:spPr>
        <p:txBody>
          <a:bodyPr wrap="square">
            <a:spAutoFit/>
          </a:bodyPr>
          <a:lstStyle/>
          <a:p>
            <a:r>
              <a:rPr lang="en-GB" sz="1000" dirty="0">
                <a:solidFill>
                  <a:srgbClr val="30CDD7"/>
                </a:solidFill>
                <a:latin typeface="Georgia Pro" panose="02040502050405020303" pitchFamily="18" charset="0"/>
              </a:rPr>
              <a:t>Its extrema </a:t>
            </a:r>
          </a:p>
        </p:txBody>
      </p:sp>
      <p:sp>
        <p:nvSpPr>
          <p:cNvPr id="15" name="TextBox 14">
            <a:extLst>
              <a:ext uri="{FF2B5EF4-FFF2-40B4-BE49-F238E27FC236}">
                <a16:creationId xmlns:a16="http://schemas.microsoft.com/office/drawing/2014/main" id="{DC8B84FC-CA50-4D67-BFCA-83E03EDF407C}"/>
              </a:ext>
            </a:extLst>
          </p:cNvPr>
          <p:cNvSpPr txBox="1"/>
          <p:nvPr/>
        </p:nvSpPr>
        <p:spPr>
          <a:xfrm>
            <a:off x="9506356" y="2143987"/>
            <a:ext cx="6619672" cy="246221"/>
          </a:xfrm>
          <a:prstGeom prst="rect">
            <a:avLst/>
          </a:prstGeom>
          <a:noFill/>
        </p:spPr>
        <p:txBody>
          <a:bodyPr wrap="square">
            <a:spAutoFit/>
          </a:bodyPr>
          <a:lstStyle/>
          <a:p>
            <a:r>
              <a:rPr lang="en-US" sz="1000" dirty="0">
                <a:solidFill>
                  <a:srgbClr val="30CDD7"/>
                </a:solidFill>
                <a:latin typeface="Georgia Pro" panose="02040502050405020303" pitchFamily="18" charset="0"/>
              </a:rPr>
              <a:t> Southern midsummer insolation at 65 °N</a:t>
            </a:r>
            <a:endParaRPr lang="en-GB" sz="1000" dirty="0">
              <a:solidFill>
                <a:srgbClr val="30CDD7"/>
              </a:solidFill>
              <a:latin typeface="Georgia Pro" panose="02040502050405020303" pitchFamily="18" charset="0"/>
            </a:endParaRPr>
          </a:p>
        </p:txBody>
      </p:sp>
      <p:sp>
        <p:nvSpPr>
          <p:cNvPr id="16" name="TextBox 15">
            <a:extLst>
              <a:ext uri="{FF2B5EF4-FFF2-40B4-BE49-F238E27FC236}">
                <a16:creationId xmlns:a16="http://schemas.microsoft.com/office/drawing/2014/main" id="{4386DA63-4121-417B-A318-4774DD8C1DB2}"/>
              </a:ext>
            </a:extLst>
          </p:cNvPr>
          <p:cNvSpPr txBox="1"/>
          <p:nvPr/>
        </p:nvSpPr>
        <p:spPr>
          <a:xfrm>
            <a:off x="9961386" y="2638480"/>
            <a:ext cx="8589522" cy="246221"/>
          </a:xfrm>
          <a:prstGeom prst="rect">
            <a:avLst/>
          </a:prstGeom>
          <a:noFill/>
        </p:spPr>
        <p:txBody>
          <a:bodyPr wrap="square">
            <a:spAutoFit/>
          </a:bodyPr>
          <a:lstStyle/>
          <a:p>
            <a:r>
              <a:rPr lang="en-GB" sz="1000" dirty="0">
                <a:solidFill>
                  <a:srgbClr val="30CDD7"/>
                </a:solidFill>
                <a:latin typeface="Georgia Pro" panose="02040502050405020303" pitchFamily="18" charset="0"/>
              </a:rPr>
              <a:t>Its extrema </a:t>
            </a:r>
          </a:p>
        </p:txBody>
      </p:sp>
      <p:sp>
        <p:nvSpPr>
          <p:cNvPr id="17" name="Rectangle 16">
            <a:extLst>
              <a:ext uri="{FF2B5EF4-FFF2-40B4-BE49-F238E27FC236}">
                <a16:creationId xmlns:a16="http://schemas.microsoft.com/office/drawing/2014/main" id="{EC3E0036-DC46-41B4-84CF-1F86F8747EA0}"/>
              </a:ext>
            </a:extLst>
          </p:cNvPr>
          <p:cNvSpPr/>
          <p:nvPr/>
        </p:nvSpPr>
        <p:spPr>
          <a:xfrm>
            <a:off x="9964772" y="3317790"/>
            <a:ext cx="1173661" cy="321012"/>
          </a:xfrm>
          <a:prstGeom prst="rect">
            <a:avLst/>
          </a:prstGeom>
          <a:solidFill>
            <a:srgbClr val="D8DEE9">
              <a:alpha val="50000"/>
            </a:srgbClr>
          </a:solidFill>
          <a:ln w="25400">
            <a:solidFill>
              <a:srgbClr val="D8DE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41B3BC93-769D-42C4-9D12-90E1AFF13D93}"/>
              </a:ext>
            </a:extLst>
          </p:cNvPr>
          <p:cNvSpPr txBox="1"/>
          <p:nvPr/>
        </p:nvSpPr>
        <p:spPr>
          <a:xfrm>
            <a:off x="9686318" y="3812283"/>
            <a:ext cx="2580261" cy="400110"/>
          </a:xfrm>
          <a:prstGeom prst="rect">
            <a:avLst/>
          </a:prstGeom>
          <a:noFill/>
        </p:spPr>
        <p:txBody>
          <a:bodyPr wrap="square">
            <a:spAutoFit/>
          </a:bodyPr>
          <a:lstStyle/>
          <a:p>
            <a:r>
              <a:rPr lang="en-US" sz="1000" dirty="0">
                <a:solidFill>
                  <a:srgbClr val="30CDD7"/>
                </a:solidFill>
                <a:latin typeface="Georgia Pro" panose="02040502050405020303" pitchFamily="18" charset="0"/>
              </a:rPr>
              <a:t>The overlaps during SH and NH insolation increase, the insolation canon</a:t>
            </a:r>
            <a:endParaRPr lang="en-GB" sz="1000" dirty="0">
              <a:solidFill>
                <a:srgbClr val="30CDD7"/>
              </a:solidFill>
              <a:latin typeface="Georgia Pro" panose="02040502050405020303" pitchFamily="18" charset="0"/>
            </a:endParaRPr>
          </a:p>
        </p:txBody>
      </p:sp>
      <p:sp>
        <p:nvSpPr>
          <p:cNvPr id="20" name="Rectangle 19">
            <a:extLst>
              <a:ext uri="{FF2B5EF4-FFF2-40B4-BE49-F238E27FC236}">
                <a16:creationId xmlns:a16="http://schemas.microsoft.com/office/drawing/2014/main" id="{0602B050-B202-4843-8968-106CD674036F}"/>
              </a:ext>
            </a:extLst>
          </p:cNvPr>
          <p:cNvSpPr/>
          <p:nvPr/>
        </p:nvSpPr>
        <p:spPr>
          <a:xfrm>
            <a:off x="9961386" y="4385874"/>
            <a:ext cx="1173661" cy="321012"/>
          </a:xfrm>
          <a:prstGeom prst="rect">
            <a:avLst/>
          </a:prstGeom>
          <a:solidFill>
            <a:srgbClr val="E5E9FE">
              <a:alpha val="50000"/>
            </a:srgbClr>
          </a:solidFill>
          <a:ln w="25400">
            <a:solidFill>
              <a:srgbClr val="E5E9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33B45D71-18AC-4D9C-BE78-DA99886140C5}"/>
              </a:ext>
            </a:extLst>
          </p:cNvPr>
          <p:cNvSpPr txBox="1"/>
          <p:nvPr/>
        </p:nvSpPr>
        <p:spPr>
          <a:xfrm>
            <a:off x="9686317" y="4880367"/>
            <a:ext cx="2580261" cy="400110"/>
          </a:xfrm>
          <a:prstGeom prst="rect">
            <a:avLst/>
          </a:prstGeom>
          <a:noFill/>
        </p:spPr>
        <p:txBody>
          <a:bodyPr wrap="square">
            <a:spAutoFit/>
          </a:bodyPr>
          <a:lstStyle/>
          <a:p>
            <a:r>
              <a:rPr lang="en-US" sz="1000" dirty="0">
                <a:solidFill>
                  <a:srgbClr val="30CDD7"/>
                </a:solidFill>
                <a:latin typeface="Georgia Pro" panose="02040502050405020303" pitchFamily="18" charset="0"/>
              </a:rPr>
              <a:t>The overlap during SH and NH insolation decrease, ‘negative’ insolation canon</a:t>
            </a:r>
            <a:endParaRPr lang="en-GB" sz="1000" dirty="0">
              <a:solidFill>
                <a:srgbClr val="30CDD7"/>
              </a:solidFill>
              <a:latin typeface="Georgia Pro" panose="02040502050405020303" pitchFamily="18" charset="0"/>
            </a:endParaRPr>
          </a:p>
        </p:txBody>
      </p:sp>
      <p:sp>
        <p:nvSpPr>
          <p:cNvPr id="22" name="Rectangle 21">
            <a:extLst>
              <a:ext uri="{FF2B5EF4-FFF2-40B4-BE49-F238E27FC236}">
                <a16:creationId xmlns:a16="http://schemas.microsoft.com/office/drawing/2014/main" id="{990889BA-54C0-4FBC-B42E-8EDC539BD4A4}"/>
              </a:ext>
            </a:extLst>
          </p:cNvPr>
          <p:cNvSpPr/>
          <p:nvPr/>
        </p:nvSpPr>
        <p:spPr>
          <a:xfrm>
            <a:off x="9762643" y="5369311"/>
            <a:ext cx="198743" cy="497753"/>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337F40D4-A0E8-48B0-AF9D-57B3CCBADC8B}"/>
              </a:ext>
            </a:extLst>
          </p:cNvPr>
          <p:cNvSpPr/>
          <p:nvPr/>
        </p:nvSpPr>
        <p:spPr>
          <a:xfrm flipH="1">
            <a:off x="10004629" y="5699574"/>
            <a:ext cx="198742" cy="497753"/>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TextBox 23">
            <a:extLst>
              <a:ext uri="{FF2B5EF4-FFF2-40B4-BE49-F238E27FC236}">
                <a16:creationId xmlns:a16="http://schemas.microsoft.com/office/drawing/2014/main" id="{3558B32B-3183-4ADB-BE0C-10938558092F}"/>
              </a:ext>
            </a:extLst>
          </p:cNvPr>
          <p:cNvSpPr txBox="1"/>
          <p:nvPr/>
        </p:nvSpPr>
        <p:spPr>
          <a:xfrm>
            <a:off x="9893225" y="5366915"/>
            <a:ext cx="1856065" cy="246221"/>
          </a:xfrm>
          <a:prstGeom prst="rect">
            <a:avLst/>
          </a:prstGeom>
          <a:noFill/>
        </p:spPr>
        <p:txBody>
          <a:bodyPr wrap="square">
            <a:spAutoFit/>
          </a:bodyPr>
          <a:lstStyle/>
          <a:p>
            <a:r>
              <a:rPr lang="en-US" sz="1000" dirty="0">
                <a:solidFill>
                  <a:srgbClr val="30CDD7"/>
                </a:solidFill>
                <a:latin typeface="Georgia Pro" panose="02040502050405020303" pitchFamily="18" charset="0"/>
              </a:rPr>
              <a:t>The length of an overlap</a:t>
            </a:r>
            <a:endParaRPr lang="en-GB" sz="1000" dirty="0">
              <a:solidFill>
                <a:srgbClr val="30CDD7"/>
              </a:solidFill>
              <a:latin typeface="Georgia Pro" panose="02040502050405020303" pitchFamily="18" charset="0"/>
            </a:endParaRPr>
          </a:p>
        </p:txBody>
      </p:sp>
      <p:sp>
        <p:nvSpPr>
          <p:cNvPr id="25" name="TextBox 24">
            <a:extLst>
              <a:ext uri="{FF2B5EF4-FFF2-40B4-BE49-F238E27FC236}">
                <a16:creationId xmlns:a16="http://schemas.microsoft.com/office/drawing/2014/main" id="{7FDBF269-79A4-4B13-9DAA-FBBE14F7507A}"/>
              </a:ext>
            </a:extLst>
          </p:cNvPr>
          <p:cNvSpPr txBox="1"/>
          <p:nvPr/>
        </p:nvSpPr>
        <p:spPr>
          <a:xfrm>
            <a:off x="10147242" y="5699574"/>
            <a:ext cx="1961266" cy="246221"/>
          </a:xfrm>
          <a:prstGeom prst="rect">
            <a:avLst/>
          </a:prstGeom>
          <a:noFill/>
        </p:spPr>
        <p:txBody>
          <a:bodyPr wrap="square">
            <a:spAutoFit/>
          </a:bodyPr>
          <a:lstStyle/>
          <a:p>
            <a:r>
              <a:rPr lang="en-GB" sz="1000" dirty="0">
                <a:solidFill>
                  <a:srgbClr val="30CDD7"/>
                </a:solidFill>
                <a:latin typeface="Georgia Pro" panose="02040502050405020303" pitchFamily="18" charset="0"/>
              </a:rPr>
              <a:t>The total energy supply</a:t>
            </a:r>
          </a:p>
        </p:txBody>
      </p:sp>
      <p:sp>
        <p:nvSpPr>
          <p:cNvPr id="26" name="Rectangle 25">
            <a:extLst>
              <a:ext uri="{FF2B5EF4-FFF2-40B4-BE49-F238E27FC236}">
                <a16:creationId xmlns:a16="http://schemas.microsoft.com/office/drawing/2014/main" id="{5ACF4D79-8130-4D13-ACF0-B7FB0A3FFD33}"/>
              </a:ext>
            </a:extLst>
          </p:cNvPr>
          <p:cNvSpPr/>
          <p:nvPr/>
        </p:nvSpPr>
        <p:spPr>
          <a:xfrm>
            <a:off x="10296586" y="4130601"/>
            <a:ext cx="1173661" cy="69111"/>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C0F2BEF6-3013-4C02-BD1E-1048B986ADC6}"/>
              </a:ext>
            </a:extLst>
          </p:cNvPr>
          <p:cNvSpPr/>
          <p:nvPr/>
        </p:nvSpPr>
        <p:spPr>
          <a:xfrm rot="5400000">
            <a:off x="10214772" y="4065733"/>
            <a:ext cx="198846" cy="69111"/>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1A47DABE-A2D2-4B74-975A-7F819901A751}"/>
              </a:ext>
            </a:extLst>
          </p:cNvPr>
          <p:cNvSpPr/>
          <p:nvPr/>
        </p:nvSpPr>
        <p:spPr>
          <a:xfrm rot="5400000">
            <a:off x="11331036" y="4065733"/>
            <a:ext cx="198846" cy="69111"/>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3B868884-F70D-4319-B539-CCBD3065820F}"/>
              </a:ext>
            </a:extLst>
          </p:cNvPr>
          <p:cNvSpPr/>
          <p:nvPr/>
        </p:nvSpPr>
        <p:spPr>
          <a:xfrm>
            <a:off x="10296586" y="3976094"/>
            <a:ext cx="1173661" cy="69111"/>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26999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A69BC2-3BE9-4E8A-8BE8-4ECEE8478D8B}"/>
              </a:ext>
            </a:extLst>
          </p:cNvPr>
          <p:cNvPicPr>
            <a:picLocks noChangeAspect="1"/>
          </p:cNvPicPr>
          <p:nvPr/>
        </p:nvPicPr>
        <p:blipFill>
          <a:blip r:embed="rId2"/>
          <a:stretch>
            <a:fillRect/>
          </a:stretch>
        </p:blipFill>
        <p:spPr>
          <a:xfrm>
            <a:off x="4970269" y="1235676"/>
            <a:ext cx="6347335" cy="4512694"/>
          </a:xfrm>
          <a:prstGeom prst="rect">
            <a:avLst/>
          </a:prstGeom>
        </p:spPr>
      </p:pic>
      <p:sp>
        <p:nvSpPr>
          <p:cNvPr id="6" name="Rectangle 5">
            <a:extLst>
              <a:ext uri="{FF2B5EF4-FFF2-40B4-BE49-F238E27FC236}">
                <a16:creationId xmlns:a16="http://schemas.microsoft.com/office/drawing/2014/main" id="{222D4094-11B6-4E9C-8F5C-A2D5D7DAA147}"/>
              </a:ext>
            </a:extLst>
          </p:cNvPr>
          <p:cNvSpPr/>
          <p:nvPr/>
        </p:nvSpPr>
        <p:spPr>
          <a:xfrm>
            <a:off x="876829" y="507998"/>
            <a:ext cx="3228769" cy="461665"/>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Results and discussion: </a:t>
            </a:r>
            <a:r>
              <a:rPr lang="en-US" sz="1200" dirty="0">
                <a:solidFill>
                  <a:srgbClr val="30CDD7"/>
                </a:solidFill>
                <a:latin typeface="Georgia Pro" panose="02040502050405020303" pitchFamily="18" charset="0"/>
              </a:rPr>
              <a:t>The insolation canon</a:t>
            </a:r>
          </a:p>
          <a:p>
            <a:endParaRPr lang="en-US" sz="1200" dirty="0">
              <a:solidFill>
                <a:srgbClr val="30CDD7"/>
              </a:solidFill>
              <a:latin typeface="Cambria Math" panose="02040503050406030204" pitchFamily="18" charset="0"/>
              <a:ea typeface="Cambria Math" panose="02040503050406030204" pitchFamily="18" charset="0"/>
            </a:endParaRPr>
          </a:p>
        </p:txBody>
      </p:sp>
      <p:sp>
        <p:nvSpPr>
          <p:cNvPr id="4" name="Footer Placeholder 25">
            <a:extLst>
              <a:ext uri="{FF2B5EF4-FFF2-40B4-BE49-F238E27FC236}">
                <a16:creationId xmlns:a16="http://schemas.microsoft.com/office/drawing/2014/main" id="{5E960987-96D0-42E1-BD61-D59C8BD80588}"/>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sp>
        <p:nvSpPr>
          <p:cNvPr id="7" name="Rectangle 6">
            <a:extLst>
              <a:ext uri="{FF2B5EF4-FFF2-40B4-BE49-F238E27FC236}">
                <a16:creationId xmlns:a16="http://schemas.microsoft.com/office/drawing/2014/main" id="{C07ED21A-036F-4C70-909D-D102BF23982A}"/>
              </a:ext>
            </a:extLst>
          </p:cNvPr>
          <p:cNvSpPr/>
          <p:nvPr/>
        </p:nvSpPr>
        <p:spPr>
          <a:xfrm>
            <a:off x="5618995" y="1590601"/>
            <a:ext cx="3728205" cy="106119"/>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E0D03E73-6154-45FB-AF38-8D96A4BCDCE4}"/>
              </a:ext>
            </a:extLst>
          </p:cNvPr>
          <p:cNvSpPr/>
          <p:nvPr/>
        </p:nvSpPr>
        <p:spPr>
          <a:xfrm>
            <a:off x="5618994" y="1696720"/>
            <a:ext cx="3728205" cy="106119"/>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Connector 8">
            <a:extLst>
              <a:ext uri="{FF2B5EF4-FFF2-40B4-BE49-F238E27FC236}">
                <a16:creationId xmlns:a16="http://schemas.microsoft.com/office/drawing/2014/main" id="{9BBEEBB3-3885-4348-9B13-35C3EEA8726E}"/>
              </a:ext>
            </a:extLst>
          </p:cNvPr>
          <p:cNvCxnSpPr>
            <a:cxnSpLocks/>
          </p:cNvCxnSpPr>
          <p:nvPr/>
        </p:nvCxnSpPr>
        <p:spPr>
          <a:xfrm>
            <a:off x="3972560" y="1696719"/>
            <a:ext cx="3864949" cy="0"/>
          </a:xfrm>
          <a:prstGeom prst="line">
            <a:avLst/>
          </a:prstGeom>
          <a:ln w="12700" cap="flat" cmpd="sng" algn="ctr">
            <a:solidFill>
              <a:srgbClr val="30CDD7"/>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TextBox 9">
            <a:extLst>
              <a:ext uri="{FF2B5EF4-FFF2-40B4-BE49-F238E27FC236}">
                <a16:creationId xmlns:a16="http://schemas.microsoft.com/office/drawing/2014/main" id="{49DF3F39-A0CF-4252-AC7C-C3D03F9FD72F}"/>
              </a:ext>
            </a:extLst>
          </p:cNvPr>
          <p:cNvSpPr txBox="1"/>
          <p:nvPr/>
        </p:nvSpPr>
        <p:spPr>
          <a:xfrm>
            <a:off x="3840479" y="1419721"/>
            <a:ext cx="5843403" cy="276998"/>
          </a:xfrm>
          <a:prstGeom prst="rect">
            <a:avLst/>
          </a:prstGeom>
          <a:noFill/>
        </p:spPr>
        <p:txBody>
          <a:bodyPr wrap="square">
            <a:spAutoFit/>
          </a:bodyPr>
          <a:lstStyle/>
          <a:p>
            <a:r>
              <a:rPr lang="en-GB" sz="1200" dirty="0">
                <a:solidFill>
                  <a:srgbClr val="30CDD7"/>
                </a:solidFill>
                <a:latin typeface="Georgia Pro" panose="02040502050405020303" pitchFamily="18" charset="0"/>
              </a:rPr>
              <a:t>Terminations</a:t>
            </a:r>
          </a:p>
        </p:txBody>
      </p:sp>
      <p:sp>
        <p:nvSpPr>
          <p:cNvPr id="11" name="TextBox 10">
            <a:extLst>
              <a:ext uri="{FF2B5EF4-FFF2-40B4-BE49-F238E27FC236}">
                <a16:creationId xmlns:a16="http://schemas.microsoft.com/office/drawing/2014/main" id="{0B9A2A8B-265E-4FA8-AF0B-8CB7663869AB}"/>
              </a:ext>
            </a:extLst>
          </p:cNvPr>
          <p:cNvSpPr txBox="1"/>
          <p:nvPr/>
        </p:nvSpPr>
        <p:spPr>
          <a:xfrm>
            <a:off x="874396" y="884544"/>
            <a:ext cx="3634212" cy="4985980"/>
          </a:xfrm>
          <a:prstGeom prst="rect">
            <a:avLst/>
          </a:prstGeom>
          <a:noFill/>
        </p:spPr>
        <p:txBody>
          <a:bodyPr wrap="square" rtlCol="0">
            <a:spAutoFit/>
          </a:bodyPr>
          <a:lstStyle/>
          <a:p>
            <a:pPr marL="285750" indent="-285750">
              <a:buFontTx/>
              <a:buChar char="-"/>
            </a:pPr>
            <a:r>
              <a:rPr lang="en-US" sz="1200" dirty="0">
                <a:solidFill>
                  <a:srgbClr val="30CDD7"/>
                </a:solidFill>
                <a:latin typeface="Georgia Pro" panose="02040502050405020303" pitchFamily="18" charset="0"/>
              </a:rPr>
              <a:t>The overlap has to be equal to or longer than 1000 </a:t>
            </a:r>
            <a:r>
              <a:rPr lang="en-US" sz="1200" dirty="0" err="1">
                <a:solidFill>
                  <a:srgbClr val="30CDD7"/>
                </a:solidFill>
                <a:latin typeface="Georgia Pro" panose="02040502050405020303" pitchFamily="18" charset="0"/>
              </a:rPr>
              <a:t>yr</a:t>
            </a:r>
            <a:endParaRPr lang="en-US" sz="1200" dirty="0">
              <a:solidFill>
                <a:srgbClr val="30CDD7"/>
              </a:solidFill>
              <a:latin typeface="Georgia Pro" panose="02040502050405020303" pitchFamily="18" charset="0"/>
            </a:endParaRP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Total energy supplied during the increase of southern and northern midsummer insolation has to exceed a threshold of 0.95 TJ m–2</a:t>
            </a: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The resulting OTs perfectly match the geologic record, coinciding with marine δ18O maxima, which to a first approximation reflect maxima in ice sheet extension100 </a:t>
            </a:r>
            <a:r>
              <a:rPr lang="en-US" sz="1200" dirty="0" err="1">
                <a:solidFill>
                  <a:srgbClr val="30CDD7"/>
                </a:solidFill>
                <a:latin typeface="Georgia Pro" panose="02040502050405020303" pitchFamily="18" charset="0"/>
              </a:rPr>
              <a:t>ky</a:t>
            </a:r>
            <a:r>
              <a:rPr lang="en-US" sz="1200" dirty="0">
                <a:solidFill>
                  <a:srgbClr val="30CDD7"/>
                </a:solidFill>
                <a:latin typeface="Georgia Pro" panose="02040502050405020303" pitchFamily="18" charset="0"/>
              </a:rPr>
              <a:t> glacial/interglacial cycles</a:t>
            </a: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the time intervals between our onsets of terminations (terminations VII–VI, VI–V, V–IV, IV–III, III–II, II–I) agree very well with intervals between midpoints of terminations in marine δ18O records, independent of the dating method applied</a:t>
            </a:r>
          </a:p>
          <a:p>
            <a:pPr marL="285750" indent="-285750">
              <a:buFontTx/>
              <a:buChar char="-"/>
            </a:pPr>
            <a:endParaRPr lang="nl-NL" dirty="0"/>
          </a:p>
        </p:txBody>
      </p:sp>
    </p:spTree>
    <p:extLst>
      <p:ext uri="{BB962C8B-B14F-4D97-AF65-F5344CB8AC3E}">
        <p14:creationId xmlns:p14="http://schemas.microsoft.com/office/powerpoint/2010/main" val="3397264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A8D6B6-8EAF-4608-8FFF-12D18A74C0C1}"/>
                  </a:ext>
                </a:extLst>
              </p:cNvPr>
              <p:cNvSpPr txBox="1"/>
              <p:nvPr/>
            </p:nvSpPr>
            <p:spPr>
              <a:xfrm>
                <a:off x="4472303" y="2931336"/>
                <a:ext cx="6842868" cy="276999"/>
              </a:xfrm>
              <a:prstGeom prst="rect">
                <a:avLst/>
              </a:prstGeom>
              <a:noFill/>
            </p:spPr>
            <p:txBody>
              <a:bodyPr wrap="square">
                <a:spAutoFit/>
              </a:bodyPr>
              <a:lstStyle/>
              <a:p>
                <a:r>
                  <a:rPr lang="en-GB" sz="1200" dirty="0">
                    <a:solidFill>
                      <a:srgbClr val="30CDD7"/>
                    </a:solidFill>
                    <a:latin typeface="Georgia Pro" panose="02040502050405020303" pitchFamily="18" charset="0"/>
                  </a:rPr>
                  <a:t>Kicking frequency </a:t>
                </a:r>
                <a14:m>
                  <m:oMath xmlns:m="http://schemas.openxmlformats.org/officeDocument/2006/math">
                    <m:sSub>
                      <m:sSubPr>
                        <m:ctrlPr>
                          <a:rPr lang="el-GR" sz="1200" i="1" dirty="0" smtClean="0">
                            <a:solidFill>
                              <a:srgbClr val="30CDD7"/>
                            </a:solidFill>
                            <a:latin typeface="Cambria Math" panose="02040503050406030204" pitchFamily="18" charset="0"/>
                          </a:rPr>
                        </m:ctrlPr>
                      </m:sSubPr>
                      <m:e>
                        <m:r>
                          <a:rPr lang="el-GR" sz="1200" i="1" dirty="0" smtClean="0">
                            <a:solidFill>
                              <a:srgbClr val="30CDD7"/>
                            </a:solidFill>
                            <a:latin typeface="Cambria Math" panose="02040503050406030204" pitchFamily="18" charset="0"/>
                          </a:rPr>
                          <m:t>𝜔</m:t>
                        </m:r>
                      </m:e>
                      <m:sub>
                        <m:r>
                          <a:rPr lang="el-GR" sz="1200" i="1" dirty="0" smtClean="0">
                            <a:solidFill>
                              <a:srgbClr val="30CDD7"/>
                            </a:solidFill>
                            <a:latin typeface="Cambria Math" panose="02040503050406030204" pitchFamily="18" charset="0"/>
                          </a:rPr>
                          <m:t>𝑘</m:t>
                        </m:r>
                      </m:sub>
                    </m:sSub>
                  </m:oMath>
                </a14:m>
                <a:r>
                  <a:rPr lang="pt-BR" sz="1200" dirty="0">
                    <a:solidFill>
                      <a:srgbClr val="30CDD7"/>
                    </a:solidFill>
                    <a:latin typeface="Georgia Pro" panose="02040502050405020303" pitchFamily="18" charset="0"/>
                  </a:rPr>
                  <a:t>= 2</a:t>
                </a:r>
                <a:r>
                  <a:rPr lang="el-GR" sz="1200" dirty="0">
                    <a:solidFill>
                      <a:srgbClr val="30CDD7"/>
                    </a:solidFill>
                    <a:latin typeface="Georgia Pro" panose="02040502050405020303" pitchFamily="18" charset="0"/>
                  </a:rPr>
                  <a:t>π/</a:t>
                </a:r>
                <a14:m>
                  <m:oMath xmlns:m="http://schemas.openxmlformats.org/officeDocument/2006/math">
                    <m:sSub>
                      <m:sSubPr>
                        <m:ctrlPr>
                          <a:rPr lang="pt-BR" sz="1200" i="1" dirty="0" smtClean="0">
                            <a:solidFill>
                              <a:srgbClr val="30CDD7"/>
                            </a:solidFill>
                            <a:latin typeface="Cambria Math" panose="02040503050406030204" pitchFamily="18" charset="0"/>
                          </a:rPr>
                        </m:ctrlPr>
                      </m:sSubPr>
                      <m:e>
                        <m:r>
                          <a:rPr lang="pt-BR" sz="1200" i="1" dirty="0" smtClean="0">
                            <a:solidFill>
                              <a:srgbClr val="30CDD7"/>
                            </a:solidFill>
                            <a:latin typeface="Cambria Math" panose="02040503050406030204" pitchFamily="18" charset="0"/>
                          </a:rPr>
                          <m:t>𝑇</m:t>
                        </m:r>
                      </m:e>
                      <m:sub>
                        <m:r>
                          <a:rPr lang="pt-BR" sz="1200" i="1" dirty="0" smtClean="0">
                            <a:solidFill>
                              <a:srgbClr val="30CDD7"/>
                            </a:solidFill>
                            <a:latin typeface="Cambria Math" panose="02040503050406030204" pitchFamily="18" charset="0"/>
                          </a:rPr>
                          <m:t>𝑘</m:t>
                        </m:r>
                      </m:sub>
                    </m:sSub>
                  </m:oMath>
                </a14:m>
                <a:endParaRPr lang="pt-BR" sz="1200" dirty="0">
                  <a:solidFill>
                    <a:srgbClr val="30CDD7"/>
                  </a:solidFill>
                  <a:latin typeface="Georgia Pro" panose="02040502050405020303" pitchFamily="18" charset="0"/>
                </a:endParaRPr>
              </a:p>
            </p:txBody>
          </p:sp>
        </mc:Choice>
        <mc:Fallback xmlns="">
          <p:sp>
            <p:nvSpPr>
              <p:cNvPr id="17" name="TextBox 16">
                <a:extLst>
                  <a:ext uri="{FF2B5EF4-FFF2-40B4-BE49-F238E27FC236}">
                    <a16:creationId xmlns:a16="http://schemas.microsoft.com/office/drawing/2014/main" id="{7DA8D6B6-8EAF-4608-8FFF-12D18A74C0C1}"/>
                  </a:ext>
                </a:extLst>
              </p:cNvPr>
              <p:cNvSpPr txBox="1">
                <a:spLocks noRot="1" noChangeAspect="1" noMove="1" noResize="1" noEditPoints="1" noAdjustHandles="1" noChangeArrowheads="1" noChangeShapeType="1" noTextEdit="1"/>
              </p:cNvSpPr>
              <p:nvPr/>
            </p:nvSpPr>
            <p:spPr>
              <a:xfrm>
                <a:off x="4472303" y="2931336"/>
                <a:ext cx="6842868" cy="276999"/>
              </a:xfrm>
              <a:prstGeom prst="rect">
                <a:avLst/>
              </a:prstGeom>
              <a:blipFill>
                <a:blip r:embed="rId2"/>
                <a:stretch>
                  <a:fillRect l="-89" t="-2222" b="-17778"/>
                </a:stretch>
              </a:blipFill>
            </p:spPr>
            <p:txBody>
              <a:bodyPr/>
              <a:lstStyle/>
              <a:p>
                <a:r>
                  <a:rPr lang="en-GB">
                    <a:noFill/>
                  </a:rPr>
                  <a:t> </a:t>
                </a:r>
              </a:p>
            </p:txBody>
          </p:sp>
        </mc:Fallback>
      </mc:AlternateContent>
      <p:sp>
        <p:nvSpPr>
          <p:cNvPr id="2" name="Rectangle 1">
            <a:extLst>
              <a:ext uri="{FF2B5EF4-FFF2-40B4-BE49-F238E27FC236}">
                <a16:creationId xmlns:a16="http://schemas.microsoft.com/office/drawing/2014/main" id="{2C7A2D1C-11B7-49EB-B9BD-93363ECE17FE}"/>
              </a:ext>
            </a:extLst>
          </p:cNvPr>
          <p:cNvSpPr/>
          <p:nvPr/>
        </p:nvSpPr>
        <p:spPr>
          <a:xfrm>
            <a:off x="876829" y="507998"/>
            <a:ext cx="3018775" cy="276999"/>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Results and discussion: </a:t>
            </a:r>
            <a:r>
              <a:rPr lang="en-US" sz="1200" dirty="0">
                <a:solidFill>
                  <a:srgbClr val="30CDD7"/>
                </a:solidFill>
                <a:latin typeface="Georgia Pro" panose="02040502050405020303" pitchFamily="18" charset="0"/>
              </a:rPr>
              <a:t>Origin of overlaps</a:t>
            </a:r>
            <a:endParaRPr lang="en-US" sz="1200" dirty="0">
              <a:solidFill>
                <a:srgbClr val="30CDD7"/>
              </a:solidFill>
              <a:latin typeface="Cambria Math" panose="02040503050406030204" pitchFamily="18" charset="0"/>
              <a:ea typeface="Cambria Math" panose="02040503050406030204" pitchFamily="18" charset="0"/>
            </a:endParaRPr>
          </a:p>
        </p:txBody>
      </p:sp>
      <p:pic>
        <p:nvPicPr>
          <p:cNvPr id="4" name="Picture 3">
            <a:extLst>
              <a:ext uri="{FF2B5EF4-FFF2-40B4-BE49-F238E27FC236}">
                <a16:creationId xmlns:a16="http://schemas.microsoft.com/office/drawing/2014/main" id="{E55F9B54-6F0C-471A-BEEC-3463B830E810}"/>
              </a:ext>
            </a:extLst>
          </p:cNvPr>
          <p:cNvPicPr>
            <a:picLocks noChangeAspect="1"/>
          </p:cNvPicPr>
          <p:nvPr/>
        </p:nvPicPr>
        <p:blipFill>
          <a:blip r:embed="rId3"/>
          <a:stretch>
            <a:fillRect/>
          </a:stretch>
        </p:blipFill>
        <p:spPr>
          <a:xfrm>
            <a:off x="876829" y="998221"/>
            <a:ext cx="3595474" cy="4640580"/>
          </a:xfrm>
          <a:prstGeom prst="rect">
            <a:avLst/>
          </a:prstGeom>
        </p:spPr>
      </p:pic>
      <p:cxnSp>
        <p:nvCxnSpPr>
          <p:cNvPr id="5" name="Straight Connector 4">
            <a:extLst>
              <a:ext uri="{FF2B5EF4-FFF2-40B4-BE49-F238E27FC236}">
                <a16:creationId xmlns:a16="http://schemas.microsoft.com/office/drawing/2014/main" id="{91499196-C6AB-4631-8E27-58334112C617}"/>
              </a:ext>
            </a:extLst>
          </p:cNvPr>
          <p:cNvCxnSpPr/>
          <p:nvPr/>
        </p:nvCxnSpPr>
        <p:spPr>
          <a:xfrm>
            <a:off x="4472303" y="2545492"/>
            <a:ext cx="4777946" cy="0"/>
          </a:xfrm>
          <a:prstGeom prst="line">
            <a:avLst/>
          </a:prstGeom>
          <a:ln w="12700" cap="flat" cmpd="sng" algn="ctr">
            <a:solidFill>
              <a:srgbClr val="30CDD7"/>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47183E0A-E978-4187-A5D5-A7FD20622368}"/>
              </a:ext>
            </a:extLst>
          </p:cNvPr>
          <p:cNvSpPr txBox="1"/>
          <p:nvPr/>
        </p:nvSpPr>
        <p:spPr>
          <a:xfrm>
            <a:off x="4472303" y="2268493"/>
            <a:ext cx="6094378" cy="276999"/>
          </a:xfrm>
          <a:prstGeom prst="rect">
            <a:avLst/>
          </a:prstGeom>
          <a:noFill/>
        </p:spPr>
        <p:txBody>
          <a:bodyPr wrap="square">
            <a:spAutoFit/>
          </a:bodyPr>
          <a:lstStyle/>
          <a:p>
            <a:r>
              <a:rPr lang="en-US" sz="1200" i="1" dirty="0">
                <a:solidFill>
                  <a:srgbClr val="30CDD7"/>
                </a:solidFill>
                <a:latin typeface="Georgia Pro" panose="02040502050405020303" pitchFamily="18" charset="0"/>
              </a:rPr>
              <a:t>I(t) </a:t>
            </a:r>
            <a:r>
              <a:rPr lang="en-US" sz="1200" dirty="0">
                <a:solidFill>
                  <a:srgbClr val="30CDD7"/>
                </a:solidFill>
                <a:latin typeface="Georgia Pro" panose="02040502050405020303" pitchFamily="18" charset="0"/>
              </a:rPr>
              <a:t>being the insolation at time t</a:t>
            </a:r>
            <a:endParaRPr lang="en-GB" sz="1200" dirty="0">
              <a:solidFill>
                <a:srgbClr val="30CDD7"/>
              </a:solidFill>
              <a:latin typeface="Georgia Pro" panose="02040502050405020303" pitchFamily="18" charset="0"/>
            </a:endParaRPr>
          </a:p>
        </p:txBody>
      </p:sp>
      <p:cxnSp>
        <p:nvCxnSpPr>
          <p:cNvPr id="8" name="Straight Connector 7">
            <a:extLst>
              <a:ext uri="{FF2B5EF4-FFF2-40B4-BE49-F238E27FC236}">
                <a16:creationId xmlns:a16="http://schemas.microsoft.com/office/drawing/2014/main" id="{2C20282D-1760-4E87-8224-08FC57ACC5BD}"/>
              </a:ext>
            </a:extLst>
          </p:cNvPr>
          <p:cNvCxnSpPr/>
          <p:nvPr/>
        </p:nvCxnSpPr>
        <p:spPr>
          <a:xfrm>
            <a:off x="4472303" y="3208335"/>
            <a:ext cx="4777946" cy="0"/>
          </a:xfrm>
          <a:prstGeom prst="line">
            <a:avLst/>
          </a:prstGeom>
          <a:ln w="12700" cap="flat" cmpd="sng" algn="ctr">
            <a:solidFill>
              <a:srgbClr val="30CDD7"/>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Footer Placeholder 25">
            <a:extLst>
              <a:ext uri="{FF2B5EF4-FFF2-40B4-BE49-F238E27FC236}">
                <a16:creationId xmlns:a16="http://schemas.microsoft.com/office/drawing/2014/main" id="{5515AD3D-C2C9-400E-A884-DC23097F88BC}"/>
              </a:ext>
            </a:extLst>
          </p:cNvPr>
          <p:cNvSpPr>
            <a:spLocks noGrp="1"/>
          </p:cNvSpPr>
          <p:nvPr>
            <p:ph type="ftr" sz="quarter" idx="11"/>
          </p:nvPr>
        </p:nvSpPr>
        <p:spPr>
          <a:xfrm>
            <a:off x="-947965" y="6388913"/>
            <a:ext cx="4114800" cy="365125"/>
          </a:xfrm>
        </p:spPr>
        <p:txBody>
          <a:bodyPr/>
          <a:lstStyle/>
          <a:p>
            <a:r>
              <a:rPr lang="nl-NL" sz="1000" dirty="0">
                <a:solidFill>
                  <a:srgbClr val="9EDAE5"/>
                </a:solidFill>
                <a:latin typeface="Georgia Pro" panose="02040502050405020303" pitchFamily="18" charset="0"/>
              </a:rPr>
              <a:t>                 </a:t>
            </a:r>
            <a:r>
              <a:rPr lang="nl-NL" sz="1000" dirty="0">
                <a:solidFill>
                  <a:srgbClr val="30CDD7"/>
                </a:solidFill>
                <a:latin typeface="Georgia Pro" panose="02040502050405020303" pitchFamily="18" charset="0"/>
              </a:rPr>
              <a:t>     </a:t>
            </a:r>
            <a:r>
              <a:rPr lang="nl-NL" sz="1000" dirty="0" err="1">
                <a:solidFill>
                  <a:srgbClr val="30CDD7"/>
                </a:solidFill>
                <a:latin typeface="Georgia Pro" panose="02040502050405020303" pitchFamily="18" charset="0"/>
              </a:rPr>
              <a:t>Laskar</a:t>
            </a:r>
            <a:r>
              <a:rPr lang="nl-NL" sz="1000" dirty="0">
                <a:solidFill>
                  <a:srgbClr val="30CDD7"/>
                </a:solidFill>
                <a:latin typeface="Georgia Pro" panose="02040502050405020303" pitchFamily="18" charset="0"/>
              </a:rPr>
              <a:t>, J., </a:t>
            </a:r>
            <a:r>
              <a:rPr lang="nl-NL" sz="1000" dirty="0" err="1">
                <a:solidFill>
                  <a:srgbClr val="30CDD7"/>
                </a:solidFill>
                <a:latin typeface="Georgia Pro" panose="02040502050405020303" pitchFamily="18" charset="0"/>
              </a:rPr>
              <a:t>Joutel</a:t>
            </a:r>
            <a:r>
              <a:rPr lang="nl-NL" sz="1000" dirty="0">
                <a:solidFill>
                  <a:srgbClr val="30CDD7"/>
                </a:solidFill>
                <a:latin typeface="Georgia Pro" panose="02040502050405020303" pitchFamily="18" charset="0"/>
              </a:rPr>
              <a:t>, F., &amp; </a:t>
            </a:r>
            <a:r>
              <a:rPr lang="nl-NL" sz="1000" dirty="0" err="1">
                <a:solidFill>
                  <a:srgbClr val="30CDD7"/>
                </a:solidFill>
                <a:latin typeface="Georgia Pro" panose="02040502050405020303" pitchFamily="18" charset="0"/>
              </a:rPr>
              <a:t>Boudin</a:t>
            </a:r>
            <a:r>
              <a:rPr lang="nl-NL" sz="1000" dirty="0">
                <a:solidFill>
                  <a:srgbClr val="30CDD7"/>
                </a:solidFill>
                <a:latin typeface="Georgia Pro" panose="02040502050405020303" pitchFamily="18" charset="0"/>
              </a:rPr>
              <a:t>, F (1993)</a:t>
            </a:r>
          </a:p>
        </p:txBody>
      </p:sp>
      <p:cxnSp>
        <p:nvCxnSpPr>
          <p:cNvPr id="11" name="Straight Connector 10">
            <a:extLst>
              <a:ext uri="{FF2B5EF4-FFF2-40B4-BE49-F238E27FC236}">
                <a16:creationId xmlns:a16="http://schemas.microsoft.com/office/drawing/2014/main" id="{6B9E16B4-60D7-47B9-AC8C-5685EBB05499}"/>
              </a:ext>
            </a:extLst>
          </p:cNvPr>
          <p:cNvCxnSpPr/>
          <p:nvPr/>
        </p:nvCxnSpPr>
        <p:spPr>
          <a:xfrm>
            <a:off x="4472303" y="1974802"/>
            <a:ext cx="4777946" cy="0"/>
          </a:xfrm>
          <a:prstGeom prst="line">
            <a:avLst/>
          </a:prstGeom>
          <a:ln w="12700" cap="flat" cmpd="sng" algn="ctr">
            <a:solidFill>
              <a:srgbClr val="30CDD7"/>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73C01372-922D-481E-981E-3327D2C121AF}"/>
              </a:ext>
            </a:extLst>
          </p:cNvPr>
          <p:cNvSpPr txBox="1"/>
          <p:nvPr/>
        </p:nvSpPr>
        <p:spPr>
          <a:xfrm>
            <a:off x="4472303" y="1697803"/>
            <a:ext cx="6094378" cy="276999"/>
          </a:xfrm>
          <a:prstGeom prst="rect">
            <a:avLst/>
          </a:prstGeom>
          <a:noFill/>
        </p:spPr>
        <p:txBody>
          <a:bodyPr wrap="square">
            <a:spAutoFit/>
          </a:bodyPr>
          <a:lstStyle/>
          <a:p>
            <a:r>
              <a:rPr lang="pt-BR" sz="1200" dirty="0">
                <a:solidFill>
                  <a:srgbClr val="30CDD7"/>
                </a:solidFill>
                <a:latin typeface="Georgia Pro" panose="02040502050405020303" pitchFamily="18" charset="0"/>
              </a:rPr>
              <a:t>SAO/NASA Astrophysics Data System (ADS)</a:t>
            </a:r>
          </a:p>
        </p:txBody>
      </p:sp>
      <p:cxnSp>
        <p:nvCxnSpPr>
          <p:cNvPr id="18" name="Straight Connector 17">
            <a:extLst>
              <a:ext uri="{FF2B5EF4-FFF2-40B4-BE49-F238E27FC236}">
                <a16:creationId xmlns:a16="http://schemas.microsoft.com/office/drawing/2014/main" id="{A4A8E42C-F59D-4AF4-B5D0-2A656F1FEAF2}"/>
              </a:ext>
            </a:extLst>
          </p:cNvPr>
          <p:cNvCxnSpPr/>
          <p:nvPr/>
        </p:nvCxnSpPr>
        <p:spPr>
          <a:xfrm>
            <a:off x="4472303" y="3943032"/>
            <a:ext cx="4777946" cy="0"/>
          </a:xfrm>
          <a:prstGeom prst="line">
            <a:avLst/>
          </a:prstGeom>
          <a:ln w="12700" cap="flat" cmpd="sng" algn="ctr">
            <a:solidFill>
              <a:srgbClr val="30CDD7"/>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2D340641-914D-414B-B18F-8105EAD30D61}"/>
              </a:ext>
            </a:extLst>
          </p:cNvPr>
          <p:cNvSpPr txBox="1"/>
          <p:nvPr/>
        </p:nvSpPr>
        <p:spPr>
          <a:xfrm>
            <a:off x="4472303" y="3649665"/>
            <a:ext cx="6842868" cy="276999"/>
          </a:xfrm>
          <a:prstGeom prst="rect">
            <a:avLst/>
          </a:prstGeom>
          <a:noFill/>
        </p:spPr>
        <p:txBody>
          <a:bodyPr wrap="square">
            <a:spAutoFit/>
          </a:bodyPr>
          <a:lstStyle/>
          <a:p>
            <a:r>
              <a:rPr lang="en-US" sz="1200" dirty="0">
                <a:solidFill>
                  <a:srgbClr val="30CDD7"/>
                </a:solidFill>
                <a:latin typeface="Georgia Pro" panose="02040502050405020303" pitchFamily="18" charset="0"/>
              </a:rPr>
              <a:t>Tk being the oscillation periods of 100 kyr, 41 kyr, 23 kyr and 19 kyr</a:t>
            </a:r>
            <a:endParaRPr lang="pt-BR" sz="1200" dirty="0">
              <a:solidFill>
                <a:srgbClr val="30CDD7"/>
              </a:solidFill>
              <a:latin typeface="Georgia Pro" panose="02040502050405020303" pitchFamily="18" charset="0"/>
            </a:endParaRPr>
          </a:p>
        </p:txBody>
      </p:sp>
      <p:cxnSp>
        <p:nvCxnSpPr>
          <p:cNvPr id="20" name="Straight Connector 19">
            <a:extLst>
              <a:ext uri="{FF2B5EF4-FFF2-40B4-BE49-F238E27FC236}">
                <a16:creationId xmlns:a16="http://schemas.microsoft.com/office/drawing/2014/main" id="{21244FDE-8819-41CF-BF7B-0B72256252C1}"/>
              </a:ext>
            </a:extLst>
          </p:cNvPr>
          <p:cNvCxnSpPr/>
          <p:nvPr/>
        </p:nvCxnSpPr>
        <p:spPr>
          <a:xfrm>
            <a:off x="4472303" y="4676429"/>
            <a:ext cx="4777946" cy="0"/>
          </a:xfrm>
          <a:prstGeom prst="line">
            <a:avLst/>
          </a:prstGeom>
          <a:ln w="12700" cap="flat" cmpd="sng" algn="ctr">
            <a:solidFill>
              <a:srgbClr val="30CDD7"/>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D5E7628-B428-4F43-8619-F1492F93019A}"/>
                  </a:ext>
                </a:extLst>
              </p:cNvPr>
              <p:cNvSpPr txBox="1"/>
              <p:nvPr/>
            </p:nvSpPr>
            <p:spPr>
              <a:xfrm>
                <a:off x="4472303" y="4214764"/>
                <a:ext cx="7492718" cy="461665"/>
              </a:xfrm>
              <a:prstGeom prst="rect">
                <a:avLst/>
              </a:prstGeom>
              <a:noFill/>
            </p:spPr>
            <p:txBody>
              <a:bodyPr wrap="square">
                <a:spAutoFit/>
              </a:bodyPr>
              <a:lstStyle/>
              <a:p>
                <a:r>
                  <a:rPr lang="en-US" sz="1200" dirty="0">
                    <a:solidFill>
                      <a:srgbClr val="30CDD7"/>
                    </a:solidFill>
                    <a:latin typeface="Georgia Pro" panose="02040502050405020303" pitchFamily="18" charset="0"/>
                  </a:rPr>
                  <a:t>Fourier coefficients </a:t>
                </a:r>
                <a14:m>
                  <m:oMath xmlns:m="http://schemas.openxmlformats.org/officeDocument/2006/math">
                    <m:sSub>
                      <m:sSubPr>
                        <m:ctrlPr>
                          <a:rPr lang="en-US" sz="1200" i="1" dirty="0" smtClean="0">
                            <a:solidFill>
                              <a:srgbClr val="30CDD7"/>
                            </a:solidFill>
                            <a:latin typeface="Cambria Math" panose="02040503050406030204" pitchFamily="18" charset="0"/>
                          </a:rPr>
                        </m:ctrlPr>
                      </m:sSubPr>
                      <m:e>
                        <m:r>
                          <a:rPr lang="en-US" sz="1200" i="1" dirty="0" smtClean="0">
                            <a:solidFill>
                              <a:srgbClr val="30CDD7"/>
                            </a:solidFill>
                            <a:latin typeface="Cambria Math" panose="02040503050406030204" pitchFamily="18" charset="0"/>
                          </a:rPr>
                          <m:t>𝑎</m:t>
                        </m:r>
                      </m:e>
                      <m:sub>
                        <m:r>
                          <a:rPr lang="en-US" sz="1200" i="1" dirty="0" smtClean="0">
                            <a:solidFill>
                              <a:srgbClr val="30CDD7"/>
                            </a:solidFill>
                            <a:latin typeface="Cambria Math" panose="02040503050406030204" pitchFamily="18" charset="0"/>
                          </a:rPr>
                          <m:t>𝑘</m:t>
                        </m:r>
                      </m:sub>
                    </m:sSub>
                  </m:oMath>
                </a14:m>
                <a:r>
                  <a:rPr lang="en-US" sz="1200" dirty="0">
                    <a:solidFill>
                      <a:srgbClr val="30CDD7"/>
                    </a:solidFill>
                    <a:latin typeface="Georgia Pro" panose="02040502050405020303" pitchFamily="18" charset="0"/>
                  </a:rPr>
                  <a:t> were set to 0.1, 0.7, 1, 1 for NH insolation</a:t>
                </a:r>
              </a:p>
              <a:p>
                <a:r>
                  <a:rPr lang="en-US" sz="1200" dirty="0">
                    <a:solidFill>
                      <a:srgbClr val="30CDD7"/>
                    </a:solidFill>
                    <a:latin typeface="Georgia Pro" panose="02040502050405020303" pitchFamily="18" charset="0"/>
                  </a:rPr>
                  <a:t>and to 0.1, 0.7,−1,−1 for SH insolation</a:t>
                </a:r>
                <a:endParaRPr lang="pt-BR" sz="1200" dirty="0">
                  <a:solidFill>
                    <a:srgbClr val="30CDD7"/>
                  </a:solidFill>
                  <a:latin typeface="Georgia Pro" panose="02040502050405020303" pitchFamily="18" charset="0"/>
                </a:endParaRPr>
              </a:p>
            </p:txBody>
          </p:sp>
        </mc:Choice>
        <mc:Fallback xmlns="">
          <p:sp>
            <p:nvSpPr>
              <p:cNvPr id="21" name="TextBox 20">
                <a:extLst>
                  <a:ext uri="{FF2B5EF4-FFF2-40B4-BE49-F238E27FC236}">
                    <a16:creationId xmlns:a16="http://schemas.microsoft.com/office/drawing/2014/main" id="{DD5E7628-B428-4F43-8619-F1492F93019A}"/>
                  </a:ext>
                </a:extLst>
              </p:cNvPr>
              <p:cNvSpPr txBox="1">
                <a:spLocks noRot="1" noChangeAspect="1" noMove="1" noResize="1" noEditPoints="1" noAdjustHandles="1" noChangeArrowheads="1" noChangeShapeType="1" noTextEdit="1"/>
              </p:cNvSpPr>
              <p:nvPr/>
            </p:nvSpPr>
            <p:spPr>
              <a:xfrm>
                <a:off x="4472303" y="4214764"/>
                <a:ext cx="7492718" cy="461665"/>
              </a:xfrm>
              <a:prstGeom prst="rect">
                <a:avLst/>
              </a:prstGeom>
              <a:blipFill>
                <a:blip r:embed="rId4"/>
                <a:stretch>
                  <a:fillRect l="-81" b="-9211"/>
                </a:stretch>
              </a:blipFill>
            </p:spPr>
            <p:txBody>
              <a:bodyPr/>
              <a:lstStyle/>
              <a:p>
                <a:r>
                  <a:rPr lang="en-GB">
                    <a:noFill/>
                  </a:rPr>
                  <a:t> </a:t>
                </a:r>
              </a:p>
            </p:txBody>
          </p:sp>
        </mc:Fallback>
      </mc:AlternateContent>
    </p:spTree>
    <p:extLst>
      <p:ext uri="{BB962C8B-B14F-4D97-AF65-F5344CB8AC3E}">
        <p14:creationId xmlns:p14="http://schemas.microsoft.com/office/powerpoint/2010/main" val="3431335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37834A-3178-48E2-B58F-DC78D20AB15C}"/>
              </a:ext>
            </a:extLst>
          </p:cNvPr>
          <p:cNvSpPr/>
          <p:nvPr/>
        </p:nvSpPr>
        <p:spPr>
          <a:xfrm>
            <a:off x="876829" y="507998"/>
            <a:ext cx="3760966" cy="461665"/>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Results and discussion: </a:t>
            </a:r>
            <a:r>
              <a:rPr lang="en-US" sz="1200" dirty="0">
                <a:solidFill>
                  <a:srgbClr val="30CDD7"/>
                </a:solidFill>
                <a:latin typeface="Georgia Pro" panose="02040502050405020303" pitchFamily="18" charset="0"/>
              </a:rPr>
              <a:t> The three classical problems</a:t>
            </a:r>
          </a:p>
          <a:p>
            <a:endParaRPr lang="en-US" sz="1200" dirty="0">
              <a:solidFill>
                <a:srgbClr val="30CDD7"/>
              </a:solidFill>
              <a:latin typeface="Cambria Math" panose="02040503050406030204" pitchFamily="18" charset="0"/>
              <a:ea typeface="Cambria Math" panose="02040503050406030204" pitchFamily="18" charset="0"/>
            </a:endParaRPr>
          </a:p>
        </p:txBody>
      </p:sp>
      <p:pic>
        <p:nvPicPr>
          <p:cNvPr id="2050" name="Picture 2">
            <a:extLst>
              <a:ext uri="{FF2B5EF4-FFF2-40B4-BE49-F238E27FC236}">
                <a16:creationId xmlns:a16="http://schemas.microsoft.com/office/drawing/2014/main" id="{3FA2AA91-7209-4AF2-BC41-DF34726CB5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193" y="964297"/>
            <a:ext cx="4545278" cy="324587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02A1B76-DDD6-444B-B25D-F21CF5C1F4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0277" y="862571"/>
            <a:ext cx="6200260" cy="416700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F5EF0C5-9ECC-4905-BA32-1791D5C3C245}"/>
              </a:ext>
            </a:extLst>
          </p:cNvPr>
          <p:cNvSpPr/>
          <p:nvPr/>
        </p:nvSpPr>
        <p:spPr>
          <a:xfrm>
            <a:off x="6571445" y="1124988"/>
            <a:ext cx="45719" cy="1334878"/>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D610CDA-C6DB-4BCF-B7CA-5EC9AF47F3D9}"/>
              </a:ext>
            </a:extLst>
          </p:cNvPr>
          <p:cNvSpPr/>
          <p:nvPr/>
        </p:nvSpPr>
        <p:spPr>
          <a:xfrm>
            <a:off x="6804337" y="1124988"/>
            <a:ext cx="45719" cy="797184"/>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A59DB924-FF34-4433-A9FE-DCBF36B64E98}"/>
              </a:ext>
            </a:extLst>
          </p:cNvPr>
          <p:cNvSpPr/>
          <p:nvPr/>
        </p:nvSpPr>
        <p:spPr>
          <a:xfrm>
            <a:off x="7034007" y="1124988"/>
            <a:ext cx="45719" cy="600781"/>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09FC5919-AF73-45B1-957E-1B4F7299CA3F}"/>
              </a:ext>
            </a:extLst>
          </p:cNvPr>
          <p:cNvSpPr/>
          <p:nvPr/>
        </p:nvSpPr>
        <p:spPr>
          <a:xfrm>
            <a:off x="8199539" y="1124988"/>
            <a:ext cx="45719" cy="481651"/>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D6BE7E96-AB61-40AA-B4DF-A7AD000A9BF5}"/>
              </a:ext>
            </a:extLst>
          </p:cNvPr>
          <p:cNvSpPr/>
          <p:nvPr/>
        </p:nvSpPr>
        <p:spPr>
          <a:xfrm>
            <a:off x="7616779" y="1124988"/>
            <a:ext cx="45719" cy="687713"/>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266CD0B5-3A24-46DF-B5D4-560EE8F9B6A5}"/>
              </a:ext>
            </a:extLst>
          </p:cNvPr>
          <p:cNvSpPr/>
          <p:nvPr/>
        </p:nvSpPr>
        <p:spPr>
          <a:xfrm>
            <a:off x="8471010" y="1118082"/>
            <a:ext cx="52499" cy="571805"/>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13">
            <a:extLst>
              <a:ext uri="{FF2B5EF4-FFF2-40B4-BE49-F238E27FC236}">
                <a16:creationId xmlns:a16="http://schemas.microsoft.com/office/drawing/2014/main" id="{D31720DF-B244-4AF8-910C-DA875C1FADFE}"/>
              </a:ext>
            </a:extLst>
          </p:cNvPr>
          <p:cNvSpPr/>
          <p:nvPr/>
        </p:nvSpPr>
        <p:spPr>
          <a:xfrm>
            <a:off x="8662057" y="1124987"/>
            <a:ext cx="52499" cy="571806"/>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B22B2990-0D2F-4EE9-8E0A-2DFD55B8991B}"/>
              </a:ext>
            </a:extLst>
          </p:cNvPr>
          <p:cNvSpPr/>
          <p:nvPr/>
        </p:nvSpPr>
        <p:spPr>
          <a:xfrm>
            <a:off x="9092157" y="1124983"/>
            <a:ext cx="52499" cy="1502304"/>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AA5EBB85-EFED-4A76-87D5-ADC5B1135E59}"/>
              </a:ext>
            </a:extLst>
          </p:cNvPr>
          <p:cNvSpPr/>
          <p:nvPr/>
        </p:nvSpPr>
        <p:spPr>
          <a:xfrm>
            <a:off x="9704572" y="1124985"/>
            <a:ext cx="52499" cy="1540941"/>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998F0058-3EDC-4A44-B19E-5C161237EAFC}"/>
              </a:ext>
            </a:extLst>
          </p:cNvPr>
          <p:cNvSpPr/>
          <p:nvPr/>
        </p:nvSpPr>
        <p:spPr>
          <a:xfrm>
            <a:off x="10136747" y="1124986"/>
            <a:ext cx="45719" cy="346426"/>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C14B3F05-7E81-4AB5-85E8-C95B20636908}"/>
              </a:ext>
            </a:extLst>
          </p:cNvPr>
          <p:cNvSpPr/>
          <p:nvPr/>
        </p:nvSpPr>
        <p:spPr>
          <a:xfrm>
            <a:off x="7128457" y="3007249"/>
            <a:ext cx="51515" cy="421751"/>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BA334756-F41A-4F05-A3B3-30E70A223B63}"/>
              </a:ext>
            </a:extLst>
          </p:cNvPr>
          <p:cNvSpPr/>
          <p:nvPr/>
        </p:nvSpPr>
        <p:spPr>
          <a:xfrm>
            <a:off x="7332372" y="3007249"/>
            <a:ext cx="51515" cy="421751"/>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19">
            <a:extLst>
              <a:ext uri="{FF2B5EF4-FFF2-40B4-BE49-F238E27FC236}">
                <a16:creationId xmlns:a16="http://schemas.microsoft.com/office/drawing/2014/main" id="{335A4B0A-904C-4D4C-A106-414D3E470A89}"/>
              </a:ext>
            </a:extLst>
          </p:cNvPr>
          <p:cNvSpPr/>
          <p:nvPr/>
        </p:nvSpPr>
        <p:spPr>
          <a:xfrm>
            <a:off x="7527309" y="3006793"/>
            <a:ext cx="51515" cy="312282"/>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20">
            <a:extLst>
              <a:ext uri="{FF2B5EF4-FFF2-40B4-BE49-F238E27FC236}">
                <a16:creationId xmlns:a16="http://schemas.microsoft.com/office/drawing/2014/main" id="{011BF29C-C64C-4706-B4BB-9CCD76B7B97B}"/>
              </a:ext>
            </a:extLst>
          </p:cNvPr>
          <p:cNvSpPr/>
          <p:nvPr/>
        </p:nvSpPr>
        <p:spPr>
          <a:xfrm>
            <a:off x="8588303" y="3007249"/>
            <a:ext cx="51515" cy="634252"/>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Rectangle 21">
            <a:extLst>
              <a:ext uri="{FF2B5EF4-FFF2-40B4-BE49-F238E27FC236}">
                <a16:creationId xmlns:a16="http://schemas.microsoft.com/office/drawing/2014/main" id="{77C5DB3A-E5CF-44D9-824A-0956E45CA68B}"/>
              </a:ext>
            </a:extLst>
          </p:cNvPr>
          <p:cNvSpPr/>
          <p:nvPr/>
        </p:nvSpPr>
        <p:spPr>
          <a:xfrm>
            <a:off x="9010407" y="3007249"/>
            <a:ext cx="51515" cy="263985"/>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830FB3F1-54CE-452E-A8F1-A863EB0FD6B1}"/>
              </a:ext>
            </a:extLst>
          </p:cNvPr>
          <p:cNvSpPr/>
          <p:nvPr/>
        </p:nvSpPr>
        <p:spPr>
          <a:xfrm>
            <a:off x="9877359" y="3007248"/>
            <a:ext cx="51515" cy="289744"/>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Rectangle 23">
            <a:extLst>
              <a:ext uri="{FF2B5EF4-FFF2-40B4-BE49-F238E27FC236}">
                <a16:creationId xmlns:a16="http://schemas.microsoft.com/office/drawing/2014/main" id="{92A525E7-3601-468D-A3DD-6E731C9BE3F8}"/>
              </a:ext>
            </a:extLst>
          </p:cNvPr>
          <p:cNvSpPr/>
          <p:nvPr/>
        </p:nvSpPr>
        <p:spPr>
          <a:xfrm>
            <a:off x="11321735" y="3008875"/>
            <a:ext cx="51515" cy="421752"/>
          </a:xfrm>
          <a:prstGeom prst="rect">
            <a:avLst/>
          </a:prstGeom>
          <a:solidFill>
            <a:srgbClr val="9EDAE5"/>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Rectangle 24">
            <a:extLst>
              <a:ext uri="{FF2B5EF4-FFF2-40B4-BE49-F238E27FC236}">
                <a16:creationId xmlns:a16="http://schemas.microsoft.com/office/drawing/2014/main" id="{2A73182A-62AB-42D3-B3DD-5D4D43F2C503}"/>
              </a:ext>
            </a:extLst>
          </p:cNvPr>
          <p:cNvSpPr/>
          <p:nvPr/>
        </p:nvSpPr>
        <p:spPr>
          <a:xfrm>
            <a:off x="6610008" y="1124984"/>
            <a:ext cx="52499" cy="1476547"/>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50EF67BA-8315-4A5B-B829-BC6FA41A7258}"/>
              </a:ext>
            </a:extLst>
          </p:cNvPr>
          <p:cNvSpPr/>
          <p:nvPr/>
        </p:nvSpPr>
        <p:spPr>
          <a:xfrm>
            <a:off x="6848413" y="1124983"/>
            <a:ext cx="52499" cy="45589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FED51379-4214-42BB-904C-3F9EFD5CDF7D}"/>
              </a:ext>
            </a:extLst>
          </p:cNvPr>
          <p:cNvSpPr/>
          <p:nvPr/>
        </p:nvSpPr>
        <p:spPr>
          <a:xfrm>
            <a:off x="7075958" y="1124983"/>
            <a:ext cx="52499" cy="281688"/>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9DD4F8D9-1048-425E-8BE4-0F644BAB40BC}"/>
              </a:ext>
            </a:extLst>
          </p:cNvPr>
          <p:cNvSpPr/>
          <p:nvPr/>
        </p:nvSpPr>
        <p:spPr>
          <a:xfrm>
            <a:off x="7194781" y="1124983"/>
            <a:ext cx="45719" cy="10816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E793993-F29A-4B2F-8B2A-DEA6E7D28FDE}"/>
              </a:ext>
            </a:extLst>
          </p:cNvPr>
          <p:cNvSpPr/>
          <p:nvPr/>
        </p:nvSpPr>
        <p:spPr>
          <a:xfrm>
            <a:off x="7437533" y="1118429"/>
            <a:ext cx="45719" cy="214534"/>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9974DEC0-A1DC-45B7-9D7D-5ECB4098247D}"/>
              </a:ext>
            </a:extLst>
          </p:cNvPr>
          <p:cNvSpPr/>
          <p:nvPr/>
        </p:nvSpPr>
        <p:spPr>
          <a:xfrm>
            <a:off x="7664261" y="1118429"/>
            <a:ext cx="52206" cy="488210"/>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E9CBC3B2-E7FC-496E-A298-81C6D9241B17}"/>
              </a:ext>
            </a:extLst>
          </p:cNvPr>
          <p:cNvSpPr/>
          <p:nvPr/>
        </p:nvSpPr>
        <p:spPr>
          <a:xfrm>
            <a:off x="7913045" y="1118429"/>
            <a:ext cx="45719" cy="153360"/>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5962BBB1-34CA-4A58-91E4-EA745A9F176B}"/>
              </a:ext>
            </a:extLst>
          </p:cNvPr>
          <p:cNvSpPr/>
          <p:nvPr/>
        </p:nvSpPr>
        <p:spPr>
          <a:xfrm>
            <a:off x="8240059" y="1118428"/>
            <a:ext cx="62873" cy="410937"/>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F56E2E6B-2BE3-4C83-8203-AED17962C4F3}"/>
              </a:ext>
            </a:extLst>
          </p:cNvPr>
          <p:cNvSpPr/>
          <p:nvPr/>
        </p:nvSpPr>
        <p:spPr>
          <a:xfrm>
            <a:off x="8511460" y="1118081"/>
            <a:ext cx="62873" cy="723597"/>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B9856501-37DA-485A-95CE-C90662A88CD9}"/>
              </a:ext>
            </a:extLst>
          </p:cNvPr>
          <p:cNvSpPr/>
          <p:nvPr/>
        </p:nvSpPr>
        <p:spPr>
          <a:xfrm>
            <a:off x="8703770" y="1124983"/>
            <a:ext cx="68305" cy="1093403"/>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B7D4E89E-F534-4973-897D-F829C73699E4}"/>
              </a:ext>
            </a:extLst>
          </p:cNvPr>
          <p:cNvSpPr/>
          <p:nvPr/>
        </p:nvSpPr>
        <p:spPr>
          <a:xfrm>
            <a:off x="8908383" y="1120342"/>
            <a:ext cx="52499" cy="24159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89DE4A7F-8237-4F17-91AC-D15FBB5B09D2}"/>
              </a:ext>
            </a:extLst>
          </p:cNvPr>
          <p:cNvSpPr/>
          <p:nvPr/>
        </p:nvSpPr>
        <p:spPr>
          <a:xfrm>
            <a:off x="9144656" y="1124983"/>
            <a:ext cx="52499" cy="1367542"/>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51991135-42F9-4642-A2B8-B482530C876A}"/>
              </a:ext>
            </a:extLst>
          </p:cNvPr>
          <p:cNvSpPr/>
          <p:nvPr/>
        </p:nvSpPr>
        <p:spPr>
          <a:xfrm>
            <a:off x="9727837" y="1118081"/>
            <a:ext cx="77029" cy="1100305"/>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72CBF639-6A93-4393-84C1-59EE5DE9A5BA}"/>
              </a:ext>
            </a:extLst>
          </p:cNvPr>
          <p:cNvSpPr/>
          <p:nvPr/>
        </p:nvSpPr>
        <p:spPr>
          <a:xfrm>
            <a:off x="9964336" y="1118081"/>
            <a:ext cx="45719" cy="179465"/>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2EC0DCE9-F9D0-4F0A-813B-6665AEAFD9BE}"/>
              </a:ext>
            </a:extLst>
          </p:cNvPr>
          <p:cNvSpPr/>
          <p:nvPr/>
        </p:nvSpPr>
        <p:spPr>
          <a:xfrm>
            <a:off x="10184229" y="1124983"/>
            <a:ext cx="51508" cy="45589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C82C4221-E8BF-4BF4-895F-DD392CB17DC6}"/>
              </a:ext>
            </a:extLst>
          </p:cNvPr>
          <p:cNvSpPr/>
          <p:nvPr/>
        </p:nvSpPr>
        <p:spPr>
          <a:xfrm>
            <a:off x="10353491" y="1124983"/>
            <a:ext cx="45719" cy="153360"/>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F2216B86-F5C0-45BD-B89C-E78C04E4A893}"/>
              </a:ext>
            </a:extLst>
          </p:cNvPr>
          <p:cNvSpPr/>
          <p:nvPr/>
        </p:nvSpPr>
        <p:spPr>
          <a:xfrm>
            <a:off x="10647182" y="1124983"/>
            <a:ext cx="45719" cy="4571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D75D3478-5AF5-4803-A2AF-38AF41BD2657}"/>
              </a:ext>
            </a:extLst>
          </p:cNvPr>
          <p:cNvSpPr/>
          <p:nvPr/>
        </p:nvSpPr>
        <p:spPr>
          <a:xfrm>
            <a:off x="10854582" y="1124983"/>
            <a:ext cx="45719" cy="72752"/>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1D96FDBA-CFC6-4550-B68B-99F5CAA939D7}"/>
              </a:ext>
            </a:extLst>
          </p:cNvPr>
          <p:cNvSpPr/>
          <p:nvPr/>
        </p:nvSpPr>
        <p:spPr>
          <a:xfrm>
            <a:off x="11226379" y="1122416"/>
            <a:ext cx="45719" cy="149373"/>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970A8615-B424-4010-9124-7FCECEE3AB69}"/>
              </a:ext>
            </a:extLst>
          </p:cNvPr>
          <p:cNvSpPr/>
          <p:nvPr/>
        </p:nvSpPr>
        <p:spPr>
          <a:xfrm>
            <a:off x="11443123" y="1118082"/>
            <a:ext cx="45719" cy="79654"/>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F93BD3FC-DD47-4FE4-BE71-06723E6ACF91}"/>
              </a:ext>
            </a:extLst>
          </p:cNvPr>
          <p:cNvSpPr/>
          <p:nvPr/>
        </p:nvSpPr>
        <p:spPr>
          <a:xfrm>
            <a:off x="6575308" y="3007249"/>
            <a:ext cx="45719" cy="124572"/>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BD4BA879-C878-44B9-B263-00CF819B27C8}"/>
              </a:ext>
            </a:extLst>
          </p:cNvPr>
          <p:cNvSpPr/>
          <p:nvPr/>
        </p:nvSpPr>
        <p:spPr>
          <a:xfrm>
            <a:off x="6795725" y="3007249"/>
            <a:ext cx="45719" cy="75041"/>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8D000B57-F7FE-4265-BADF-6A3CCAC3AFFE}"/>
              </a:ext>
            </a:extLst>
          </p:cNvPr>
          <p:cNvSpPr/>
          <p:nvPr/>
        </p:nvSpPr>
        <p:spPr>
          <a:xfrm>
            <a:off x="7171921" y="3006793"/>
            <a:ext cx="49934" cy="289744"/>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5B4DC41A-2A1D-4D82-B03E-EF5D6A04D8E9}"/>
              </a:ext>
            </a:extLst>
          </p:cNvPr>
          <p:cNvSpPr/>
          <p:nvPr/>
        </p:nvSpPr>
        <p:spPr>
          <a:xfrm>
            <a:off x="7382797" y="3006793"/>
            <a:ext cx="49934" cy="330767"/>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E968F7BF-F7E4-4352-B750-33EDB118E8DD}"/>
              </a:ext>
            </a:extLst>
          </p:cNvPr>
          <p:cNvSpPr/>
          <p:nvPr/>
        </p:nvSpPr>
        <p:spPr>
          <a:xfrm>
            <a:off x="7576153" y="3006793"/>
            <a:ext cx="51515" cy="458402"/>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E0151238-30BD-4F5E-A0FC-95028C1F5434}"/>
              </a:ext>
            </a:extLst>
          </p:cNvPr>
          <p:cNvSpPr/>
          <p:nvPr/>
        </p:nvSpPr>
        <p:spPr>
          <a:xfrm>
            <a:off x="7776721" y="3006794"/>
            <a:ext cx="45719" cy="153602"/>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7B8B97A3-138E-497E-B6F8-75DAC6315FAB}"/>
              </a:ext>
            </a:extLst>
          </p:cNvPr>
          <p:cNvSpPr/>
          <p:nvPr/>
        </p:nvSpPr>
        <p:spPr>
          <a:xfrm>
            <a:off x="7969209" y="3005489"/>
            <a:ext cx="45719" cy="181576"/>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53430856-F4F2-497E-BBBB-6C9EA3EA9E82}"/>
              </a:ext>
            </a:extLst>
          </p:cNvPr>
          <p:cNvSpPr/>
          <p:nvPr/>
        </p:nvSpPr>
        <p:spPr>
          <a:xfrm>
            <a:off x="8053704" y="3005488"/>
            <a:ext cx="45719" cy="229201"/>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52">
            <a:extLst>
              <a:ext uri="{FF2B5EF4-FFF2-40B4-BE49-F238E27FC236}">
                <a16:creationId xmlns:a16="http://schemas.microsoft.com/office/drawing/2014/main" id="{1FAA193C-5692-4E07-8591-2F9EBBC3DE63}"/>
              </a:ext>
            </a:extLst>
          </p:cNvPr>
          <p:cNvSpPr/>
          <p:nvPr/>
        </p:nvSpPr>
        <p:spPr>
          <a:xfrm>
            <a:off x="8261858" y="3005489"/>
            <a:ext cx="45719" cy="76802"/>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B31C20F6-3CEE-4F80-A159-935C1A746AE3}"/>
              </a:ext>
            </a:extLst>
          </p:cNvPr>
          <p:cNvSpPr/>
          <p:nvPr/>
        </p:nvSpPr>
        <p:spPr>
          <a:xfrm>
            <a:off x="8635901" y="3005489"/>
            <a:ext cx="45719" cy="440656"/>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10FB4136-FCA3-497A-B26B-A152A0BBD123}"/>
              </a:ext>
            </a:extLst>
          </p:cNvPr>
          <p:cNvSpPr/>
          <p:nvPr/>
        </p:nvSpPr>
        <p:spPr>
          <a:xfrm>
            <a:off x="8846777" y="3005489"/>
            <a:ext cx="45719" cy="204436"/>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D1A2E325-455F-4CFC-8947-23E12ACD5D9F}"/>
              </a:ext>
            </a:extLst>
          </p:cNvPr>
          <p:cNvSpPr/>
          <p:nvPr/>
        </p:nvSpPr>
        <p:spPr>
          <a:xfrm>
            <a:off x="9053260" y="3005488"/>
            <a:ext cx="52499" cy="762602"/>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9CCE820E-E1B4-4632-864E-32DFB44D537F}"/>
              </a:ext>
            </a:extLst>
          </p:cNvPr>
          <p:cNvSpPr/>
          <p:nvPr/>
        </p:nvSpPr>
        <p:spPr>
          <a:xfrm>
            <a:off x="9221081" y="3005488"/>
            <a:ext cx="45719" cy="126333"/>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FDE7CFB5-285E-4CEF-9AAC-3AE1332CB279}"/>
              </a:ext>
            </a:extLst>
          </p:cNvPr>
          <p:cNvSpPr/>
          <p:nvPr/>
        </p:nvSpPr>
        <p:spPr>
          <a:xfrm>
            <a:off x="9429644" y="3005488"/>
            <a:ext cx="45719" cy="4571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EE250489-10D4-4F46-A718-D22B6CB2E5F3}"/>
              </a:ext>
            </a:extLst>
          </p:cNvPr>
          <p:cNvSpPr/>
          <p:nvPr/>
        </p:nvSpPr>
        <p:spPr>
          <a:xfrm>
            <a:off x="9533233" y="3005487"/>
            <a:ext cx="52499" cy="4571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1" name="Rectangle 60">
            <a:extLst>
              <a:ext uri="{FF2B5EF4-FFF2-40B4-BE49-F238E27FC236}">
                <a16:creationId xmlns:a16="http://schemas.microsoft.com/office/drawing/2014/main" id="{9396CF5D-4943-4660-96AF-001680119CD6}"/>
              </a:ext>
            </a:extLst>
          </p:cNvPr>
          <p:cNvSpPr/>
          <p:nvPr/>
        </p:nvSpPr>
        <p:spPr>
          <a:xfrm>
            <a:off x="9727837" y="3005487"/>
            <a:ext cx="45719" cy="181578"/>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8F056011-E690-4EC7-83E5-4E22F26E9FD1}"/>
              </a:ext>
            </a:extLst>
          </p:cNvPr>
          <p:cNvSpPr/>
          <p:nvPr/>
        </p:nvSpPr>
        <p:spPr>
          <a:xfrm>
            <a:off x="9913535" y="3005487"/>
            <a:ext cx="58251" cy="132838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382FBE91-0C7D-43D1-9179-EDD5202B5A02}"/>
              </a:ext>
            </a:extLst>
          </p:cNvPr>
          <p:cNvSpPr/>
          <p:nvPr/>
        </p:nvSpPr>
        <p:spPr>
          <a:xfrm>
            <a:off x="10101660" y="3009296"/>
            <a:ext cx="45719" cy="122525"/>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ectangle 63">
            <a:extLst>
              <a:ext uri="{FF2B5EF4-FFF2-40B4-BE49-F238E27FC236}">
                <a16:creationId xmlns:a16="http://schemas.microsoft.com/office/drawing/2014/main" id="{21F10123-12E2-4293-B593-9CFAA3560F6D}"/>
              </a:ext>
            </a:extLst>
          </p:cNvPr>
          <p:cNvSpPr/>
          <p:nvPr/>
        </p:nvSpPr>
        <p:spPr>
          <a:xfrm>
            <a:off x="10317304" y="3015011"/>
            <a:ext cx="45719" cy="194913"/>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a:extLst>
              <a:ext uri="{FF2B5EF4-FFF2-40B4-BE49-F238E27FC236}">
                <a16:creationId xmlns:a16="http://schemas.microsoft.com/office/drawing/2014/main" id="{08702067-80CF-4F40-8A41-B0AB655E039D}"/>
              </a:ext>
            </a:extLst>
          </p:cNvPr>
          <p:cNvSpPr/>
          <p:nvPr/>
        </p:nvSpPr>
        <p:spPr>
          <a:xfrm>
            <a:off x="10572656" y="3005487"/>
            <a:ext cx="45719" cy="154909"/>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Rectangle 65">
            <a:extLst>
              <a:ext uri="{FF2B5EF4-FFF2-40B4-BE49-F238E27FC236}">
                <a16:creationId xmlns:a16="http://schemas.microsoft.com/office/drawing/2014/main" id="{3808D708-665C-4889-A70D-35CA92CE789E}"/>
              </a:ext>
            </a:extLst>
          </p:cNvPr>
          <p:cNvSpPr/>
          <p:nvPr/>
        </p:nvSpPr>
        <p:spPr>
          <a:xfrm>
            <a:off x="10799881" y="3005487"/>
            <a:ext cx="45719" cy="103473"/>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ectangle 66">
            <a:extLst>
              <a:ext uri="{FF2B5EF4-FFF2-40B4-BE49-F238E27FC236}">
                <a16:creationId xmlns:a16="http://schemas.microsoft.com/office/drawing/2014/main" id="{4F8D6C5B-A638-47DF-B900-5CE7B292DDDC}"/>
              </a:ext>
            </a:extLst>
          </p:cNvPr>
          <p:cNvSpPr/>
          <p:nvPr/>
        </p:nvSpPr>
        <p:spPr>
          <a:xfrm>
            <a:off x="11168146" y="3013105"/>
            <a:ext cx="45719" cy="194913"/>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Rectangle 67">
            <a:extLst>
              <a:ext uri="{FF2B5EF4-FFF2-40B4-BE49-F238E27FC236}">
                <a16:creationId xmlns:a16="http://schemas.microsoft.com/office/drawing/2014/main" id="{A8433163-1CD6-4AD5-8BE0-918722944239}"/>
              </a:ext>
            </a:extLst>
          </p:cNvPr>
          <p:cNvSpPr/>
          <p:nvPr/>
        </p:nvSpPr>
        <p:spPr>
          <a:xfrm>
            <a:off x="11367551" y="3010250"/>
            <a:ext cx="55947" cy="384460"/>
          </a:xfrm>
          <a:prstGeom prst="rect">
            <a:avLst/>
          </a:prstGeom>
          <a:solidFill>
            <a:srgbClr val="003156"/>
          </a:solidFill>
          <a:ln>
            <a:solidFill>
              <a:srgbClr val="30CD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p>
        </p:txBody>
      </p:sp>
      <p:sp>
        <p:nvSpPr>
          <p:cNvPr id="69" name="Footer Placeholder 25">
            <a:extLst>
              <a:ext uri="{FF2B5EF4-FFF2-40B4-BE49-F238E27FC236}">
                <a16:creationId xmlns:a16="http://schemas.microsoft.com/office/drawing/2014/main" id="{95D6EDD3-46B7-4A98-9976-9A182D339AC9}"/>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sp>
        <p:nvSpPr>
          <p:cNvPr id="70" name="Oval 69">
            <a:extLst>
              <a:ext uri="{FF2B5EF4-FFF2-40B4-BE49-F238E27FC236}">
                <a16:creationId xmlns:a16="http://schemas.microsoft.com/office/drawing/2014/main" id="{33E9FACD-0B57-4BA1-A05E-69EC8E1F10F4}"/>
              </a:ext>
            </a:extLst>
          </p:cNvPr>
          <p:cNvSpPr/>
          <p:nvPr/>
        </p:nvSpPr>
        <p:spPr>
          <a:xfrm>
            <a:off x="1138442" y="5029579"/>
            <a:ext cx="248400" cy="249049"/>
          </a:xfrm>
          <a:prstGeom prst="ellipse">
            <a:avLst/>
          </a:prstGeom>
          <a:solidFill>
            <a:srgbClr val="B7EFE6"/>
          </a:solidFill>
          <a:ln>
            <a:solidFill>
              <a:srgbClr val="BDD8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TextBox 70">
            <a:extLst>
              <a:ext uri="{FF2B5EF4-FFF2-40B4-BE49-F238E27FC236}">
                <a16:creationId xmlns:a16="http://schemas.microsoft.com/office/drawing/2014/main" id="{E185BEE6-9A06-41EE-BE0A-78E436EF1ACD}"/>
              </a:ext>
            </a:extLst>
          </p:cNvPr>
          <p:cNvSpPr txBox="1"/>
          <p:nvPr/>
        </p:nvSpPr>
        <p:spPr>
          <a:xfrm>
            <a:off x="1386842" y="5029579"/>
            <a:ext cx="1824990" cy="276999"/>
          </a:xfrm>
          <a:prstGeom prst="rect">
            <a:avLst/>
          </a:prstGeom>
          <a:noFill/>
        </p:spPr>
        <p:txBody>
          <a:bodyPr wrap="square">
            <a:spAutoFit/>
          </a:bodyPr>
          <a:lstStyle/>
          <a:p>
            <a:r>
              <a:rPr lang="en-GB" sz="1200" dirty="0">
                <a:solidFill>
                  <a:srgbClr val="30CDD7"/>
                </a:solidFill>
                <a:latin typeface="Georgia Pro" panose="02040502050405020303" pitchFamily="18" charset="0"/>
              </a:rPr>
              <a:t>‘100 kyr problem’</a:t>
            </a:r>
          </a:p>
        </p:txBody>
      </p:sp>
      <p:sp>
        <p:nvSpPr>
          <p:cNvPr id="72" name="Oval 71">
            <a:extLst>
              <a:ext uri="{FF2B5EF4-FFF2-40B4-BE49-F238E27FC236}">
                <a16:creationId xmlns:a16="http://schemas.microsoft.com/office/drawing/2014/main" id="{DFCCBEDF-C4A5-443E-83D4-49AEAD9F557D}"/>
              </a:ext>
            </a:extLst>
          </p:cNvPr>
          <p:cNvSpPr/>
          <p:nvPr/>
        </p:nvSpPr>
        <p:spPr>
          <a:xfrm>
            <a:off x="3961087" y="5029578"/>
            <a:ext cx="248400" cy="249049"/>
          </a:xfrm>
          <a:prstGeom prst="ellipse">
            <a:avLst/>
          </a:prstGeom>
          <a:solidFill>
            <a:srgbClr val="B7EFE6"/>
          </a:solidFill>
          <a:ln>
            <a:solidFill>
              <a:srgbClr val="BDD8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TextBox 72">
            <a:extLst>
              <a:ext uri="{FF2B5EF4-FFF2-40B4-BE49-F238E27FC236}">
                <a16:creationId xmlns:a16="http://schemas.microsoft.com/office/drawing/2014/main" id="{D036891E-D874-42B3-AE5E-753CA128A2B3}"/>
              </a:ext>
            </a:extLst>
          </p:cNvPr>
          <p:cNvSpPr txBox="1"/>
          <p:nvPr/>
        </p:nvSpPr>
        <p:spPr>
          <a:xfrm>
            <a:off x="4209487" y="5023783"/>
            <a:ext cx="2084633" cy="276999"/>
          </a:xfrm>
          <a:prstGeom prst="rect">
            <a:avLst/>
          </a:prstGeom>
          <a:noFill/>
        </p:spPr>
        <p:txBody>
          <a:bodyPr wrap="square">
            <a:spAutoFit/>
          </a:bodyPr>
          <a:lstStyle/>
          <a:p>
            <a:r>
              <a:rPr lang="en-GB" sz="1200" dirty="0">
                <a:solidFill>
                  <a:srgbClr val="30CDD7"/>
                </a:solidFill>
                <a:latin typeface="Georgia Pro" panose="02040502050405020303" pitchFamily="18" charset="0"/>
              </a:rPr>
              <a:t>‘Late Pleistocene transition’</a:t>
            </a:r>
          </a:p>
        </p:txBody>
      </p:sp>
      <p:sp>
        <p:nvSpPr>
          <p:cNvPr id="74" name="Oval 73">
            <a:extLst>
              <a:ext uri="{FF2B5EF4-FFF2-40B4-BE49-F238E27FC236}">
                <a16:creationId xmlns:a16="http://schemas.microsoft.com/office/drawing/2014/main" id="{DBF1CD1E-F323-4BDD-8BD8-2A88FE2BADB9}"/>
              </a:ext>
            </a:extLst>
          </p:cNvPr>
          <p:cNvSpPr/>
          <p:nvPr/>
        </p:nvSpPr>
        <p:spPr>
          <a:xfrm>
            <a:off x="6724213" y="5029578"/>
            <a:ext cx="248400" cy="249049"/>
          </a:xfrm>
          <a:prstGeom prst="ellipse">
            <a:avLst/>
          </a:prstGeom>
          <a:solidFill>
            <a:srgbClr val="B7EFE6"/>
          </a:solidFill>
          <a:ln>
            <a:solidFill>
              <a:srgbClr val="BDD8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TextBox 74">
            <a:extLst>
              <a:ext uri="{FF2B5EF4-FFF2-40B4-BE49-F238E27FC236}">
                <a16:creationId xmlns:a16="http://schemas.microsoft.com/office/drawing/2014/main" id="{0B0744BE-115E-4685-931F-0DC8DF0D5FAF}"/>
              </a:ext>
            </a:extLst>
          </p:cNvPr>
          <p:cNvSpPr txBox="1"/>
          <p:nvPr/>
        </p:nvSpPr>
        <p:spPr>
          <a:xfrm>
            <a:off x="6977289" y="5023783"/>
            <a:ext cx="2084633" cy="276999"/>
          </a:xfrm>
          <a:prstGeom prst="rect">
            <a:avLst/>
          </a:prstGeom>
          <a:noFill/>
        </p:spPr>
        <p:txBody>
          <a:bodyPr wrap="square">
            <a:spAutoFit/>
          </a:bodyPr>
          <a:lstStyle/>
          <a:p>
            <a:r>
              <a:rPr lang="en-GB" sz="1200" dirty="0">
                <a:solidFill>
                  <a:srgbClr val="30CDD7"/>
                </a:solidFill>
                <a:latin typeface="Georgia Pro" panose="02040502050405020303" pitchFamily="18" charset="0"/>
              </a:rPr>
              <a:t>‘stage 11’</a:t>
            </a:r>
          </a:p>
        </p:txBody>
      </p:sp>
    </p:spTree>
    <p:extLst>
      <p:ext uri="{BB962C8B-B14F-4D97-AF65-F5344CB8AC3E}">
        <p14:creationId xmlns:p14="http://schemas.microsoft.com/office/powerpoint/2010/main" val="1479065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DF520B-CE8A-4907-9FC8-F68E9272AEA9}"/>
              </a:ext>
            </a:extLst>
          </p:cNvPr>
          <p:cNvSpPr/>
          <p:nvPr/>
        </p:nvSpPr>
        <p:spPr>
          <a:xfrm>
            <a:off x="876829" y="507998"/>
            <a:ext cx="4772460" cy="646331"/>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Results and discussion: </a:t>
            </a:r>
            <a:r>
              <a:rPr lang="en-US" sz="1200" dirty="0">
                <a:solidFill>
                  <a:srgbClr val="30CDD7"/>
                </a:solidFill>
                <a:latin typeface="Georgia Pro" panose="02040502050405020303" pitchFamily="18" charset="0"/>
              </a:rPr>
              <a:t>Leads and lags around a termination - Phase</a:t>
            </a:r>
          </a:p>
          <a:p>
            <a:r>
              <a:rPr lang="en-US" sz="1200" dirty="0">
                <a:solidFill>
                  <a:srgbClr val="30CDD7"/>
                </a:solidFill>
                <a:latin typeface="Georgia Pro" panose="02040502050405020303" pitchFamily="18" charset="0"/>
              </a:rPr>
              <a:t>differences between NH and SH?</a:t>
            </a:r>
          </a:p>
          <a:p>
            <a:endParaRPr lang="en-US" sz="1200" dirty="0">
              <a:solidFill>
                <a:srgbClr val="30CDD7"/>
              </a:solidFill>
              <a:latin typeface="Cambria Math" panose="02040503050406030204" pitchFamily="18" charset="0"/>
              <a:ea typeface="Cambria Math" panose="02040503050406030204" pitchFamily="18" charset="0"/>
            </a:endParaRPr>
          </a:p>
        </p:txBody>
      </p:sp>
      <p:sp>
        <p:nvSpPr>
          <p:cNvPr id="3" name="Footer Placeholder 25">
            <a:extLst>
              <a:ext uri="{FF2B5EF4-FFF2-40B4-BE49-F238E27FC236}">
                <a16:creationId xmlns:a16="http://schemas.microsoft.com/office/drawing/2014/main" id="{A62FDD54-C4E1-4B17-9517-B7B15227EFEA}"/>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sp>
        <p:nvSpPr>
          <p:cNvPr id="4" name="TextBox 3">
            <a:extLst>
              <a:ext uri="{FF2B5EF4-FFF2-40B4-BE49-F238E27FC236}">
                <a16:creationId xmlns:a16="http://schemas.microsoft.com/office/drawing/2014/main" id="{E00CB310-1789-408B-A146-417C44DAD077}"/>
              </a:ext>
            </a:extLst>
          </p:cNvPr>
          <p:cNvSpPr txBox="1"/>
          <p:nvPr/>
        </p:nvSpPr>
        <p:spPr>
          <a:xfrm>
            <a:off x="876829" y="1632972"/>
            <a:ext cx="9359264" cy="2677656"/>
          </a:xfrm>
          <a:prstGeom prst="rect">
            <a:avLst/>
          </a:prstGeom>
          <a:noFill/>
        </p:spPr>
        <p:txBody>
          <a:bodyPr wrap="square" rtlCol="0">
            <a:spAutoFit/>
          </a:bodyPr>
          <a:lstStyle/>
          <a:p>
            <a:pPr marL="285750" indent="-285750">
              <a:buFontTx/>
              <a:buChar char="-"/>
            </a:pPr>
            <a:r>
              <a:rPr lang="en-US" sz="1200" dirty="0">
                <a:solidFill>
                  <a:srgbClr val="30CDD7"/>
                </a:solidFill>
                <a:latin typeface="Georgia Pro" panose="02040502050405020303" pitchFamily="18" charset="0"/>
              </a:rPr>
              <a:t>Although the insolation canon identified by our analysis encompasses both hemispheres, it originates in the SH as the increase in midsummer insolation at 65 °S occurs about 10 kyr prior to its NH counterpart.</a:t>
            </a:r>
          </a:p>
          <a:p>
            <a:pPr marL="285750" indent="-285750">
              <a:buFontTx/>
              <a:buChar char="-"/>
            </a:pPr>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Hence, we would expect that around a termination changes of δ18O or </a:t>
            </a:r>
            <a:r>
              <a:rPr lang="en-US" sz="1200" dirty="0" err="1">
                <a:solidFill>
                  <a:srgbClr val="30CDD7"/>
                </a:solidFill>
                <a:latin typeface="Georgia Pro" panose="02040502050405020303" pitchFamily="18" charset="0"/>
              </a:rPr>
              <a:t>δD</a:t>
            </a:r>
            <a:r>
              <a:rPr lang="en-US" sz="1200" dirty="0">
                <a:solidFill>
                  <a:srgbClr val="30CDD7"/>
                </a:solidFill>
                <a:latin typeface="Georgia Pro" panose="02040502050405020303" pitchFamily="18" charset="0"/>
              </a:rPr>
              <a:t>, proxies for local temperature, in Antarctic ice would precede those in Arctic ice.</a:t>
            </a: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Unfortunately, direct comparison of Antarctic and Arctic climate records is difficult as uncertainties arise from translating core depth to calendar age and synchronizing NH and SH records to a uniform time scale.</a:t>
            </a: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Nonetheless, the SH origin of the insolation canon suggests that, if there are phase differences between NH and SH warming around a termination, it would rather be SH lead than a lag.</a:t>
            </a:r>
            <a:endParaRPr lang="nl-NL" dirty="0">
              <a:solidFill>
                <a:srgbClr val="30CDD7"/>
              </a:solidFill>
              <a:latin typeface="Georgia Pro" panose="02040502050405020303" pitchFamily="18" charset="0"/>
            </a:endParaRPr>
          </a:p>
        </p:txBody>
      </p:sp>
      <p:pic>
        <p:nvPicPr>
          <p:cNvPr id="6" name="Picture 5">
            <a:extLst>
              <a:ext uri="{FF2B5EF4-FFF2-40B4-BE49-F238E27FC236}">
                <a16:creationId xmlns:a16="http://schemas.microsoft.com/office/drawing/2014/main" id="{E18ED1B3-7630-4D66-9A72-C953A80C890A}"/>
              </a:ext>
            </a:extLst>
          </p:cNvPr>
          <p:cNvPicPr>
            <a:picLocks noChangeAspect="1"/>
          </p:cNvPicPr>
          <p:nvPr/>
        </p:nvPicPr>
        <p:blipFill>
          <a:blip r:embed="rId2"/>
          <a:stretch>
            <a:fillRect/>
          </a:stretch>
        </p:blipFill>
        <p:spPr>
          <a:xfrm>
            <a:off x="2286000" y="4789271"/>
            <a:ext cx="7620000" cy="914400"/>
          </a:xfrm>
          <a:prstGeom prst="rect">
            <a:avLst/>
          </a:prstGeom>
        </p:spPr>
      </p:pic>
    </p:spTree>
    <p:extLst>
      <p:ext uri="{BB962C8B-B14F-4D97-AF65-F5344CB8AC3E}">
        <p14:creationId xmlns:p14="http://schemas.microsoft.com/office/powerpoint/2010/main" val="181066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8D46A91E-18BD-4931-AF42-C17DBDE6D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9916" y="784997"/>
            <a:ext cx="6563338" cy="469251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9F19F87D-0C7F-47A6-8CB4-C1799EEC9E9C}"/>
              </a:ext>
            </a:extLst>
          </p:cNvPr>
          <p:cNvCxnSpPr>
            <a:cxnSpLocks/>
          </p:cNvCxnSpPr>
          <p:nvPr/>
        </p:nvCxnSpPr>
        <p:spPr>
          <a:xfrm flipV="1">
            <a:off x="5551662" y="1312166"/>
            <a:ext cx="68072" cy="43789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7D0F516-FFF0-403D-9DB2-28FBE9688B9E}"/>
              </a:ext>
            </a:extLst>
          </p:cNvPr>
          <p:cNvCxnSpPr>
            <a:cxnSpLocks/>
          </p:cNvCxnSpPr>
          <p:nvPr/>
        </p:nvCxnSpPr>
        <p:spPr>
          <a:xfrm>
            <a:off x="5622273" y="1312166"/>
            <a:ext cx="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55F0BF9-A26D-49E3-86DA-B0DCEEC396C4}"/>
              </a:ext>
            </a:extLst>
          </p:cNvPr>
          <p:cNvCxnSpPr>
            <a:cxnSpLocks/>
          </p:cNvCxnSpPr>
          <p:nvPr/>
        </p:nvCxnSpPr>
        <p:spPr>
          <a:xfrm flipH="1">
            <a:off x="5622273" y="1312166"/>
            <a:ext cx="343408"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BB81BAA-CA49-41E3-B15B-F330C352EB1F}"/>
              </a:ext>
            </a:extLst>
          </p:cNvPr>
          <p:cNvCxnSpPr>
            <a:cxnSpLocks/>
          </p:cNvCxnSpPr>
          <p:nvPr/>
        </p:nvCxnSpPr>
        <p:spPr>
          <a:xfrm>
            <a:off x="5963888" y="1312166"/>
            <a:ext cx="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BE32DC7-0CC2-4798-87E0-4873C1D1BDD2}"/>
              </a:ext>
            </a:extLst>
          </p:cNvPr>
          <p:cNvCxnSpPr>
            <a:cxnSpLocks/>
          </p:cNvCxnSpPr>
          <p:nvPr/>
        </p:nvCxnSpPr>
        <p:spPr>
          <a:xfrm flipH="1">
            <a:off x="5963888" y="1312166"/>
            <a:ext cx="34544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61CB80-FE5B-4278-8916-0007048CCC9B}"/>
              </a:ext>
            </a:extLst>
          </p:cNvPr>
          <p:cNvCxnSpPr>
            <a:cxnSpLocks/>
          </p:cNvCxnSpPr>
          <p:nvPr/>
        </p:nvCxnSpPr>
        <p:spPr>
          <a:xfrm>
            <a:off x="6309328" y="1312166"/>
            <a:ext cx="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A17F4DE-DD81-4BD8-B972-34894BCDD692}"/>
              </a:ext>
            </a:extLst>
          </p:cNvPr>
          <p:cNvCxnSpPr>
            <a:cxnSpLocks/>
          </p:cNvCxnSpPr>
          <p:nvPr/>
        </p:nvCxnSpPr>
        <p:spPr>
          <a:xfrm flipH="1">
            <a:off x="6322029" y="1305309"/>
            <a:ext cx="269243"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7FD7D33-043F-4376-B2BB-13BE7F1FB36E}"/>
              </a:ext>
            </a:extLst>
          </p:cNvPr>
          <p:cNvCxnSpPr>
            <a:cxnSpLocks/>
          </p:cNvCxnSpPr>
          <p:nvPr/>
        </p:nvCxnSpPr>
        <p:spPr>
          <a:xfrm>
            <a:off x="6591272" y="1312166"/>
            <a:ext cx="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60D7948-9990-4373-BF15-B52B867860E7}"/>
              </a:ext>
            </a:extLst>
          </p:cNvPr>
          <p:cNvCxnSpPr>
            <a:cxnSpLocks/>
          </p:cNvCxnSpPr>
          <p:nvPr/>
        </p:nvCxnSpPr>
        <p:spPr>
          <a:xfrm flipH="1">
            <a:off x="6579593" y="1312166"/>
            <a:ext cx="22352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9153608-7F69-4DE6-AEFD-740EF31D8A9C}"/>
              </a:ext>
            </a:extLst>
          </p:cNvPr>
          <p:cNvCxnSpPr>
            <a:cxnSpLocks/>
          </p:cNvCxnSpPr>
          <p:nvPr/>
        </p:nvCxnSpPr>
        <p:spPr>
          <a:xfrm>
            <a:off x="6803113" y="1312166"/>
            <a:ext cx="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4F6BC2F-EEE7-4838-819F-2EA53E9B1992}"/>
              </a:ext>
            </a:extLst>
          </p:cNvPr>
          <p:cNvCxnSpPr>
            <a:cxnSpLocks/>
          </p:cNvCxnSpPr>
          <p:nvPr/>
        </p:nvCxnSpPr>
        <p:spPr>
          <a:xfrm flipH="1">
            <a:off x="6803114" y="1312166"/>
            <a:ext cx="386081"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815E0D6-810D-4FD4-B585-60A25738C9FF}"/>
              </a:ext>
            </a:extLst>
          </p:cNvPr>
          <p:cNvCxnSpPr>
            <a:cxnSpLocks/>
          </p:cNvCxnSpPr>
          <p:nvPr/>
        </p:nvCxnSpPr>
        <p:spPr>
          <a:xfrm>
            <a:off x="7198849" y="1312166"/>
            <a:ext cx="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CB17061-59AE-4E27-B490-59E1F4AAE8AF}"/>
              </a:ext>
            </a:extLst>
          </p:cNvPr>
          <p:cNvCxnSpPr>
            <a:cxnSpLocks/>
          </p:cNvCxnSpPr>
          <p:nvPr/>
        </p:nvCxnSpPr>
        <p:spPr>
          <a:xfrm flipH="1">
            <a:off x="7198849" y="1312166"/>
            <a:ext cx="25908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259B5C-679C-4942-97D5-546D9859D7DB}"/>
              </a:ext>
            </a:extLst>
          </p:cNvPr>
          <p:cNvCxnSpPr>
            <a:cxnSpLocks/>
          </p:cNvCxnSpPr>
          <p:nvPr/>
        </p:nvCxnSpPr>
        <p:spPr>
          <a:xfrm>
            <a:off x="7444735" y="1312166"/>
            <a:ext cx="0"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3FABE50-5503-4899-B940-686F12AFFC28}"/>
              </a:ext>
            </a:extLst>
          </p:cNvPr>
          <p:cNvCxnSpPr>
            <a:cxnSpLocks/>
          </p:cNvCxnSpPr>
          <p:nvPr/>
        </p:nvCxnSpPr>
        <p:spPr>
          <a:xfrm flipH="1">
            <a:off x="7454897" y="1312166"/>
            <a:ext cx="873762" cy="1418334"/>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B2EC53B-1C1C-4FA8-BAD9-C715F35B2E07}"/>
              </a:ext>
            </a:extLst>
          </p:cNvPr>
          <p:cNvCxnSpPr>
            <a:cxnSpLocks/>
          </p:cNvCxnSpPr>
          <p:nvPr/>
        </p:nvCxnSpPr>
        <p:spPr>
          <a:xfrm>
            <a:off x="8333738" y="1312166"/>
            <a:ext cx="0" cy="709167"/>
          </a:xfrm>
          <a:prstGeom prst="line">
            <a:avLst/>
          </a:prstGeom>
          <a:ln w="19050">
            <a:solidFill>
              <a:srgbClr val="003156"/>
            </a:solidFill>
          </a:ln>
        </p:spPr>
        <p:style>
          <a:lnRef idx="1">
            <a:schemeClr val="accent1"/>
          </a:lnRef>
          <a:fillRef idx="0">
            <a:schemeClr val="accent1"/>
          </a:fillRef>
          <a:effectRef idx="0">
            <a:schemeClr val="accent1"/>
          </a:effectRef>
          <a:fontRef idx="minor">
            <a:schemeClr val="tx1"/>
          </a:fontRef>
        </p:style>
      </p:cxnSp>
      <p:sp>
        <p:nvSpPr>
          <p:cNvPr id="42" name="Freeform: Shape 41">
            <a:extLst>
              <a:ext uri="{FF2B5EF4-FFF2-40B4-BE49-F238E27FC236}">
                <a16:creationId xmlns:a16="http://schemas.microsoft.com/office/drawing/2014/main" id="{D25FD00D-2E73-4011-96F3-EB556E6E5FA5}"/>
              </a:ext>
            </a:extLst>
          </p:cNvPr>
          <p:cNvSpPr/>
          <p:nvPr/>
        </p:nvSpPr>
        <p:spPr>
          <a:xfrm>
            <a:off x="5547359" y="3557900"/>
            <a:ext cx="2521114" cy="1568834"/>
          </a:xfrm>
          <a:custGeom>
            <a:avLst/>
            <a:gdLst>
              <a:gd name="connsiteX0" fmla="*/ 0 w 2521114"/>
              <a:gd name="connsiteY0" fmla="*/ 1442804 h 1568834"/>
              <a:gd name="connsiteX1" fmla="*/ 35560 w 2521114"/>
              <a:gd name="connsiteY1" fmla="*/ 1488524 h 1568834"/>
              <a:gd name="connsiteX2" fmla="*/ 71120 w 2521114"/>
              <a:gd name="connsiteY2" fmla="*/ 1331044 h 1568834"/>
              <a:gd name="connsiteX3" fmla="*/ 101600 w 2521114"/>
              <a:gd name="connsiteY3" fmla="*/ 1097364 h 1568834"/>
              <a:gd name="connsiteX4" fmla="*/ 162560 w 2521114"/>
              <a:gd name="connsiteY4" fmla="*/ 1534244 h 1568834"/>
              <a:gd name="connsiteX5" fmla="*/ 187960 w 2521114"/>
              <a:gd name="connsiteY5" fmla="*/ 1041484 h 1568834"/>
              <a:gd name="connsiteX6" fmla="*/ 223520 w 2521114"/>
              <a:gd name="connsiteY6" fmla="*/ 84 h 1568834"/>
              <a:gd name="connsiteX7" fmla="*/ 279400 w 2521114"/>
              <a:gd name="connsiteY7" fmla="*/ 985604 h 1568834"/>
              <a:gd name="connsiteX8" fmla="*/ 320040 w 2521114"/>
              <a:gd name="connsiteY8" fmla="*/ 1412324 h 1568834"/>
              <a:gd name="connsiteX9" fmla="*/ 386080 w 2521114"/>
              <a:gd name="connsiteY9" fmla="*/ 985604 h 1568834"/>
              <a:gd name="connsiteX10" fmla="*/ 472440 w 2521114"/>
              <a:gd name="connsiteY10" fmla="*/ 1402164 h 1568834"/>
              <a:gd name="connsiteX11" fmla="*/ 523240 w 2521114"/>
              <a:gd name="connsiteY11" fmla="*/ 1513924 h 1568834"/>
              <a:gd name="connsiteX12" fmla="*/ 568960 w 2521114"/>
              <a:gd name="connsiteY12" fmla="*/ 1381844 h 1568834"/>
              <a:gd name="connsiteX13" fmla="*/ 640080 w 2521114"/>
              <a:gd name="connsiteY13" fmla="*/ 1529164 h 1568834"/>
              <a:gd name="connsiteX14" fmla="*/ 690880 w 2521114"/>
              <a:gd name="connsiteY14" fmla="*/ 1473284 h 1568834"/>
              <a:gd name="connsiteX15" fmla="*/ 772160 w 2521114"/>
              <a:gd name="connsiteY15" fmla="*/ 1554564 h 1568834"/>
              <a:gd name="connsiteX16" fmla="*/ 868680 w 2521114"/>
              <a:gd name="connsiteY16" fmla="*/ 1275164 h 1568834"/>
              <a:gd name="connsiteX17" fmla="*/ 955040 w 2521114"/>
              <a:gd name="connsiteY17" fmla="*/ 1549484 h 1568834"/>
              <a:gd name="connsiteX18" fmla="*/ 1076960 w 2521114"/>
              <a:gd name="connsiteY18" fmla="*/ 1483444 h 1568834"/>
              <a:gd name="connsiteX19" fmla="*/ 1143000 w 2521114"/>
              <a:gd name="connsiteY19" fmla="*/ 1473284 h 1568834"/>
              <a:gd name="connsiteX20" fmla="*/ 1183640 w 2521114"/>
              <a:gd name="connsiteY20" fmla="*/ 1458044 h 1568834"/>
              <a:gd name="connsiteX21" fmla="*/ 1280160 w 2521114"/>
              <a:gd name="connsiteY21" fmla="*/ 1549484 h 1568834"/>
              <a:gd name="connsiteX22" fmla="*/ 1336040 w 2521114"/>
              <a:gd name="connsiteY22" fmla="*/ 1478364 h 1568834"/>
              <a:gd name="connsiteX23" fmla="*/ 1336040 w 2521114"/>
              <a:gd name="connsiteY23" fmla="*/ 1488524 h 1568834"/>
              <a:gd name="connsiteX24" fmla="*/ 1412240 w 2521114"/>
              <a:gd name="connsiteY24" fmla="*/ 1559644 h 1568834"/>
              <a:gd name="connsiteX25" fmla="*/ 1503680 w 2521114"/>
              <a:gd name="connsiteY25" fmla="*/ 1519004 h 1568834"/>
              <a:gd name="connsiteX26" fmla="*/ 1645920 w 2521114"/>
              <a:gd name="connsiteY26" fmla="*/ 1513924 h 1568834"/>
              <a:gd name="connsiteX27" fmla="*/ 1696720 w 2521114"/>
              <a:gd name="connsiteY27" fmla="*/ 1503764 h 1568834"/>
              <a:gd name="connsiteX28" fmla="*/ 1747520 w 2521114"/>
              <a:gd name="connsiteY28" fmla="*/ 1524084 h 1568834"/>
              <a:gd name="connsiteX29" fmla="*/ 1828800 w 2521114"/>
              <a:gd name="connsiteY29" fmla="*/ 1508844 h 1568834"/>
              <a:gd name="connsiteX30" fmla="*/ 1874520 w 2521114"/>
              <a:gd name="connsiteY30" fmla="*/ 1549484 h 1568834"/>
              <a:gd name="connsiteX31" fmla="*/ 1981200 w 2521114"/>
              <a:gd name="connsiteY31" fmla="*/ 1534244 h 1568834"/>
              <a:gd name="connsiteX32" fmla="*/ 2159000 w 2521114"/>
              <a:gd name="connsiteY32" fmla="*/ 1539324 h 1568834"/>
              <a:gd name="connsiteX33" fmla="*/ 2286000 w 2521114"/>
              <a:gd name="connsiteY33" fmla="*/ 1493604 h 1568834"/>
              <a:gd name="connsiteX34" fmla="*/ 2402840 w 2521114"/>
              <a:gd name="connsiteY34" fmla="*/ 1564724 h 1568834"/>
              <a:gd name="connsiteX35" fmla="*/ 2407920 w 2521114"/>
              <a:gd name="connsiteY35" fmla="*/ 1559644 h 1568834"/>
              <a:gd name="connsiteX36" fmla="*/ 2509520 w 2521114"/>
              <a:gd name="connsiteY36" fmla="*/ 1554564 h 1568834"/>
              <a:gd name="connsiteX37" fmla="*/ 2514600 w 2521114"/>
              <a:gd name="connsiteY37" fmla="*/ 1559644 h 156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21114" h="1568834">
                <a:moveTo>
                  <a:pt x="0" y="1442804"/>
                </a:moveTo>
                <a:cubicBezTo>
                  <a:pt x="11853" y="1474977"/>
                  <a:pt x="23707" y="1507150"/>
                  <a:pt x="35560" y="1488524"/>
                </a:cubicBezTo>
                <a:cubicBezTo>
                  <a:pt x="47413" y="1469898"/>
                  <a:pt x="60113" y="1396237"/>
                  <a:pt x="71120" y="1331044"/>
                </a:cubicBezTo>
                <a:cubicBezTo>
                  <a:pt x="82127" y="1265851"/>
                  <a:pt x="86360" y="1063497"/>
                  <a:pt x="101600" y="1097364"/>
                </a:cubicBezTo>
                <a:cubicBezTo>
                  <a:pt x="116840" y="1131231"/>
                  <a:pt x="148167" y="1543557"/>
                  <a:pt x="162560" y="1534244"/>
                </a:cubicBezTo>
                <a:cubicBezTo>
                  <a:pt x="176953" y="1524931"/>
                  <a:pt x="177800" y="1297177"/>
                  <a:pt x="187960" y="1041484"/>
                </a:cubicBezTo>
                <a:cubicBezTo>
                  <a:pt x="198120" y="785791"/>
                  <a:pt x="208280" y="9397"/>
                  <a:pt x="223520" y="84"/>
                </a:cubicBezTo>
                <a:cubicBezTo>
                  <a:pt x="238760" y="-9229"/>
                  <a:pt x="263313" y="750231"/>
                  <a:pt x="279400" y="985604"/>
                </a:cubicBezTo>
                <a:cubicBezTo>
                  <a:pt x="295487" y="1220977"/>
                  <a:pt x="302260" y="1412324"/>
                  <a:pt x="320040" y="1412324"/>
                </a:cubicBezTo>
                <a:cubicBezTo>
                  <a:pt x="337820" y="1412324"/>
                  <a:pt x="360680" y="987297"/>
                  <a:pt x="386080" y="985604"/>
                </a:cubicBezTo>
                <a:cubicBezTo>
                  <a:pt x="411480" y="983911"/>
                  <a:pt x="449580" y="1314111"/>
                  <a:pt x="472440" y="1402164"/>
                </a:cubicBezTo>
                <a:cubicBezTo>
                  <a:pt x="495300" y="1490217"/>
                  <a:pt x="507154" y="1517311"/>
                  <a:pt x="523240" y="1513924"/>
                </a:cubicBezTo>
                <a:cubicBezTo>
                  <a:pt x="539326" y="1510537"/>
                  <a:pt x="549487" y="1379304"/>
                  <a:pt x="568960" y="1381844"/>
                </a:cubicBezTo>
                <a:cubicBezTo>
                  <a:pt x="588433" y="1384384"/>
                  <a:pt x="619760" y="1513924"/>
                  <a:pt x="640080" y="1529164"/>
                </a:cubicBezTo>
                <a:cubicBezTo>
                  <a:pt x="660400" y="1544404"/>
                  <a:pt x="668867" y="1469051"/>
                  <a:pt x="690880" y="1473284"/>
                </a:cubicBezTo>
                <a:cubicBezTo>
                  <a:pt x="712893" y="1477517"/>
                  <a:pt x="742527" y="1587584"/>
                  <a:pt x="772160" y="1554564"/>
                </a:cubicBezTo>
                <a:cubicBezTo>
                  <a:pt x="801793" y="1521544"/>
                  <a:pt x="838200" y="1276011"/>
                  <a:pt x="868680" y="1275164"/>
                </a:cubicBezTo>
                <a:cubicBezTo>
                  <a:pt x="899160" y="1274317"/>
                  <a:pt x="920327" y="1514771"/>
                  <a:pt x="955040" y="1549484"/>
                </a:cubicBezTo>
                <a:cubicBezTo>
                  <a:pt x="989753" y="1584197"/>
                  <a:pt x="1045633" y="1496144"/>
                  <a:pt x="1076960" y="1483444"/>
                </a:cubicBezTo>
                <a:cubicBezTo>
                  <a:pt x="1108287" y="1470744"/>
                  <a:pt x="1125220" y="1477517"/>
                  <a:pt x="1143000" y="1473284"/>
                </a:cubicBezTo>
                <a:cubicBezTo>
                  <a:pt x="1160780" y="1469051"/>
                  <a:pt x="1160780" y="1445344"/>
                  <a:pt x="1183640" y="1458044"/>
                </a:cubicBezTo>
                <a:cubicBezTo>
                  <a:pt x="1206500" y="1470744"/>
                  <a:pt x="1254760" y="1546097"/>
                  <a:pt x="1280160" y="1549484"/>
                </a:cubicBezTo>
                <a:cubicBezTo>
                  <a:pt x="1305560" y="1552871"/>
                  <a:pt x="1336040" y="1478364"/>
                  <a:pt x="1336040" y="1478364"/>
                </a:cubicBezTo>
                <a:cubicBezTo>
                  <a:pt x="1345353" y="1468204"/>
                  <a:pt x="1323340" y="1474977"/>
                  <a:pt x="1336040" y="1488524"/>
                </a:cubicBezTo>
                <a:cubicBezTo>
                  <a:pt x="1348740" y="1502071"/>
                  <a:pt x="1384300" y="1554564"/>
                  <a:pt x="1412240" y="1559644"/>
                </a:cubicBezTo>
                <a:cubicBezTo>
                  <a:pt x="1440180" y="1564724"/>
                  <a:pt x="1464733" y="1526624"/>
                  <a:pt x="1503680" y="1519004"/>
                </a:cubicBezTo>
                <a:cubicBezTo>
                  <a:pt x="1542627" y="1511384"/>
                  <a:pt x="1613747" y="1516464"/>
                  <a:pt x="1645920" y="1513924"/>
                </a:cubicBezTo>
                <a:cubicBezTo>
                  <a:pt x="1678093" y="1511384"/>
                  <a:pt x="1679787" y="1502071"/>
                  <a:pt x="1696720" y="1503764"/>
                </a:cubicBezTo>
                <a:cubicBezTo>
                  <a:pt x="1713653" y="1505457"/>
                  <a:pt x="1725507" y="1523237"/>
                  <a:pt x="1747520" y="1524084"/>
                </a:cubicBezTo>
                <a:cubicBezTo>
                  <a:pt x="1769533" y="1524931"/>
                  <a:pt x="1807633" y="1504611"/>
                  <a:pt x="1828800" y="1508844"/>
                </a:cubicBezTo>
                <a:cubicBezTo>
                  <a:pt x="1849967" y="1513077"/>
                  <a:pt x="1849120" y="1545251"/>
                  <a:pt x="1874520" y="1549484"/>
                </a:cubicBezTo>
                <a:cubicBezTo>
                  <a:pt x="1899920" y="1553717"/>
                  <a:pt x="1933787" y="1535937"/>
                  <a:pt x="1981200" y="1534244"/>
                </a:cubicBezTo>
                <a:cubicBezTo>
                  <a:pt x="2028613" y="1532551"/>
                  <a:pt x="2108200" y="1546097"/>
                  <a:pt x="2159000" y="1539324"/>
                </a:cubicBezTo>
                <a:cubicBezTo>
                  <a:pt x="2209800" y="1532551"/>
                  <a:pt x="2245360" y="1489371"/>
                  <a:pt x="2286000" y="1493604"/>
                </a:cubicBezTo>
                <a:cubicBezTo>
                  <a:pt x="2326640" y="1497837"/>
                  <a:pt x="2382520" y="1553717"/>
                  <a:pt x="2402840" y="1564724"/>
                </a:cubicBezTo>
                <a:cubicBezTo>
                  <a:pt x="2423160" y="1575731"/>
                  <a:pt x="2390140" y="1561337"/>
                  <a:pt x="2407920" y="1559644"/>
                </a:cubicBezTo>
                <a:cubicBezTo>
                  <a:pt x="2425700" y="1557951"/>
                  <a:pt x="2491740" y="1554564"/>
                  <a:pt x="2509520" y="1554564"/>
                </a:cubicBezTo>
                <a:cubicBezTo>
                  <a:pt x="2527300" y="1554564"/>
                  <a:pt x="2520950" y="1557104"/>
                  <a:pt x="2514600" y="1559644"/>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 name="Rectangle 45">
            <a:extLst>
              <a:ext uri="{FF2B5EF4-FFF2-40B4-BE49-F238E27FC236}">
                <a16:creationId xmlns:a16="http://schemas.microsoft.com/office/drawing/2014/main" id="{72E95638-F612-4ED0-A0E3-83F4FA86B2C3}"/>
              </a:ext>
            </a:extLst>
          </p:cNvPr>
          <p:cNvSpPr/>
          <p:nvPr/>
        </p:nvSpPr>
        <p:spPr>
          <a:xfrm>
            <a:off x="876829" y="507998"/>
            <a:ext cx="3926075" cy="276999"/>
          </a:xfrm>
          <a:prstGeom prst="rect">
            <a:avLst/>
          </a:prstGeom>
        </p:spPr>
        <p:txBody>
          <a:bodyPr wrap="none">
            <a:spAutoFit/>
          </a:bodyPr>
          <a:lstStyle/>
          <a:p>
            <a:r>
              <a:rPr lang="en-US" sz="1200" dirty="0">
                <a:solidFill>
                  <a:srgbClr val="30CDD7"/>
                </a:solidFill>
                <a:latin typeface="Georgia Pro" panose="02040502050405020303" pitchFamily="18" charset="0"/>
                <a:ea typeface="Cambria Math" panose="02040503050406030204" pitchFamily="18" charset="0"/>
              </a:rPr>
              <a:t>Results and discussion: </a:t>
            </a:r>
            <a:r>
              <a:rPr lang="en-US" sz="1200" dirty="0">
                <a:solidFill>
                  <a:srgbClr val="30CDD7"/>
                </a:solidFill>
                <a:latin typeface="Georgia Pro" panose="02040502050405020303" pitchFamily="18" charset="0"/>
              </a:rPr>
              <a:t> Possible feedback mechanisms</a:t>
            </a:r>
            <a:endParaRPr lang="en-US" sz="1200" dirty="0">
              <a:solidFill>
                <a:srgbClr val="30CDD7"/>
              </a:solidFill>
              <a:latin typeface="Cambria Math" panose="02040503050406030204" pitchFamily="18" charset="0"/>
              <a:ea typeface="Cambria Math" panose="02040503050406030204" pitchFamily="18" charset="0"/>
            </a:endParaRPr>
          </a:p>
        </p:txBody>
      </p:sp>
      <p:sp>
        <p:nvSpPr>
          <p:cNvPr id="21" name="Footer Placeholder 25">
            <a:extLst>
              <a:ext uri="{FF2B5EF4-FFF2-40B4-BE49-F238E27FC236}">
                <a16:creationId xmlns:a16="http://schemas.microsoft.com/office/drawing/2014/main" id="{38E64235-6E31-42AE-839E-F0670448DD88}"/>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sp>
        <p:nvSpPr>
          <p:cNvPr id="22" name="TextBox 21">
            <a:extLst>
              <a:ext uri="{FF2B5EF4-FFF2-40B4-BE49-F238E27FC236}">
                <a16:creationId xmlns:a16="http://schemas.microsoft.com/office/drawing/2014/main" id="{1E10AB9E-C7D4-4488-8509-B8FA7757C868}"/>
              </a:ext>
            </a:extLst>
          </p:cNvPr>
          <p:cNvSpPr txBox="1"/>
          <p:nvPr/>
        </p:nvSpPr>
        <p:spPr>
          <a:xfrm>
            <a:off x="890366" y="936010"/>
            <a:ext cx="4110893" cy="4339650"/>
          </a:xfrm>
          <a:prstGeom prst="rect">
            <a:avLst/>
          </a:prstGeom>
          <a:noFill/>
        </p:spPr>
        <p:txBody>
          <a:bodyPr wrap="square" rtlCol="0">
            <a:spAutoFit/>
          </a:bodyPr>
          <a:lstStyle/>
          <a:p>
            <a:pPr marL="285750" indent="-285750">
              <a:buFontTx/>
              <a:buChar char="-"/>
            </a:pPr>
            <a:r>
              <a:rPr lang="en-US" sz="1200" dirty="0">
                <a:solidFill>
                  <a:srgbClr val="30CDD7"/>
                </a:solidFill>
                <a:latin typeface="Georgia Pro" panose="02040502050405020303" pitchFamily="18" charset="0"/>
              </a:rPr>
              <a:t>The mathematical analysis presented can identify all seven Late Pleistocene glacial terminations.</a:t>
            </a: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However, the two thresholds of time and energy, suggest the involvement of particular feedback mechanisms.</a:t>
            </a:r>
            <a:endParaRPr lang="nl-NL" sz="1200" dirty="0">
              <a:solidFill>
                <a:srgbClr val="30CDD7"/>
              </a:solidFill>
              <a:latin typeface="Georgia Pro" panose="02040502050405020303" pitchFamily="18" charset="0"/>
            </a:endParaRPr>
          </a:p>
          <a:p>
            <a:pPr marL="285750" indent="-285750">
              <a:buFontTx/>
              <a:buChar char="-"/>
            </a:pPr>
            <a:endParaRPr lang="nl-NL" sz="1200" dirty="0">
              <a:solidFill>
                <a:srgbClr val="30CDD7"/>
              </a:solidFill>
              <a:latin typeface="Georgia Pro" panose="02040502050405020303" pitchFamily="18" charset="0"/>
            </a:endParaRPr>
          </a:p>
          <a:p>
            <a:pPr marL="285750" indent="-285750">
              <a:buFontTx/>
              <a:buChar char="-"/>
            </a:pPr>
            <a:endParaRPr lang="nl-NL"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A dominant role of the SH during the initiation of deglaciation, However, only the simultaneous increase in high latitude midsummer insolation in both hemispheres can push Earth's climate out of glacial conditions.</a:t>
            </a: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SH decrease in insolation always amplifies the NH warming forcing by insolation because SH and NH insolation changes are almost completely anti-phased.</a:t>
            </a: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During overlaps both hemispheres would warm in parallel, triggered by this insolation canon.</a:t>
            </a:r>
            <a:endParaRPr lang="nl-NL" sz="1200" dirty="0">
              <a:solidFill>
                <a:srgbClr val="30CDD7"/>
              </a:solidFill>
              <a:latin typeface="Georgia Pro" panose="02040502050405020303" pitchFamily="18" charset="0"/>
            </a:endParaRPr>
          </a:p>
        </p:txBody>
      </p:sp>
    </p:spTree>
    <p:extLst>
      <p:ext uri="{BB962C8B-B14F-4D97-AF65-F5344CB8AC3E}">
        <p14:creationId xmlns:p14="http://schemas.microsoft.com/office/powerpoint/2010/main" val="1568687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0B89119-2AC1-408D-B6D1-B46B5F1081A7}"/>
              </a:ext>
            </a:extLst>
          </p:cNvPr>
          <p:cNvSpPr/>
          <p:nvPr/>
        </p:nvSpPr>
        <p:spPr>
          <a:xfrm>
            <a:off x="508438" y="1176765"/>
            <a:ext cx="6048892" cy="4973920"/>
          </a:xfrm>
          <a:prstGeom prst="rect">
            <a:avLst/>
          </a:prstGeom>
          <a:solidFill>
            <a:srgbClr val="30CD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EAD0B845-CC26-4687-9AEC-9422E991E29E}"/>
              </a:ext>
            </a:extLst>
          </p:cNvPr>
          <p:cNvSpPr/>
          <p:nvPr/>
        </p:nvSpPr>
        <p:spPr>
          <a:xfrm>
            <a:off x="700216" y="853096"/>
            <a:ext cx="4932137" cy="310669"/>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6770D61E-8A83-42EF-ABB5-C2FF0A217D40}"/>
              </a:ext>
            </a:extLst>
          </p:cNvPr>
          <p:cNvSpPr/>
          <p:nvPr/>
        </p:nvSpPr>
        <p:spPr>
          <a:xfrm>
            <a:off x="856736" y="1148897"/>
            <a:ext cx="4775618" cy="276999"/>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50FE873-B02B-4216-93CB-AF247F8BBA04}"/>
              </a:ext>
            </a:extLst>
          </p:cNvPr>
          <p:cNvSpPr/>
          <p:nvPr/>
        </p:nvSpPr>
        <p:spPr>
          <a:xfrm>
            <a:off x="1161536" y="1375049"/>
            <a:ext cx="4481380" cy="32747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62D2890-AA2C-457D-BEBD-29675B4E1024}"/>
              </a:ext>
            </a:extLst>
          </p:cNvPr>
          <p:cNvSpPr/>
          <p:nvPr/>
        </p:nvSpPr>
        <p:spPr>
          <a:xfrm>
            <a:off x="1482811" y="1694708"/>
            <a:ext cx="416010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00B8FCD1-4E2B-4591-AD9A-9C6B8F780DD3}"/>
              </a:ext>
            </a:extLst>
          </p:cNvPr>
          <p:cNvSpPr/>
          <p:nvPr/>
        </p:nvSpPr>
        <p:spPr>
          <a:xfrm>
            <a:off x="1729938" y="1964015"/>
            <a:ext cx="3904734"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D75DA016-562D-4CD3-B8AD-9DEE893F4354}"/>
              </a:ext>
            </a:extLst>
          </p:cNvPr>
          <p:cNvSpPr/>
          <p:nvPr/>
        </p:nvSpPr>
        <p:spPr>
          <a:xfrm>
            <a:off x="1977073" y="2239729"/>
            <a:ext cx="3657599"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1C79F5A9-24FC-492E-AB59-82E717898D65}"/>
              </a:ext>
            </a:extLst>
          </p:cNvPr>
          <p:cNvSpPr/>
          <p:nvPr/>
        </p:nvSpPr>
        <p:spPr>
          <a:xfrm>
            <a:off x="2257159" y="2509036"/>
            <a:ext cx="3377513" cy="276999"/>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0438A3CA-8D55-46C6-8BDA-CA727861F588}"/>
              </a:ext>
            </a:extLst>
          </p:cNvPr>
          <p:cNvSpPr/>
          <p:nvPr/>
        </p:nvSpPr>
        <p:spPr>
          <a:xfrm>
            <a:off x="2529014" y="2783467"/>
            <a:ext cx="3113901"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A63E8767-585C-450B-BCA2-B8D112D6B36B}"/>
              </a:ext>
            </a:extLst>
          </p:cNvPr>
          <p:cNvSpPr/>
          <p:nvPr/>
        </p:nvSpPr>
        <p:spPr>
          <a:xfrm>
            <a:off x="2790300" y="3058999"/>
            <a:ext cx="2842053"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07BC0BE4-C71F-41D4-A38E-1C1D9882AFB0}"/>
              </a:ext>
            </a:extLst>
          </p:cNvPr>
          <p:cNvSpPr/>
          <p:nvPr/>
        </p:nvSpPr>
        <p:spPr>
          <a:xfrm>
            <a:off x="3062150" y="3334895"/>
            <a:ext cx="2570203"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FC988DEC-B8AD-4EE7-883C-1B16013B0455}"/>
              </a:ext>
            </a:extLst>
          </p:cNvPr>
          <p:cNvSpPr/>
          <p:nvPr/>
        </p:nvSpPr>
        <p:spPr>
          <a:xfrm>
            <a:off x="3350474" y="3611894"/>
            <a:ext cx="2407774" cy="276999"/>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F56EFBA4-508E-44E2-8B48-52C6FA98CD3F}"/>
              </a:ext>
            </a:extLst>
          </p:cNvPr>
          <p:cNvSpPr/>
          <p:nvPr/>
        </p:nvSpPr>
        <p:spPr>
          <a:xfrm>
            <a:off x="3624649" y="3882495"/>
            <a:ext cx="2007709"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3E76371F-FB6D-43BA-A382-8044CDD17864}"/>
              </a:ext>
            </a:extLst>
          </p:cNvPr>
          <p:cNvSpPr/>
          <p:nvPr/>
        </p:nvSpPr>
        <p:spPr>
          <a:xfrm>
            <a:off x="3871783" y="4157920"/>
            <a:ext cx="2007709"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8B9A680E-EEEC-446A-96CF-86090A727F83}"/>
              </a:ext>
            </a:extLst>
          </p:cNvPr>
          <p:cNvSpPr/>
          <p:nvPr/>
        </p:nvSpPr>
        <p:spPr>
          <a:xfrm>
            <a:off x="4151870" y="4425954"/>
            <a:ext cx="1480484"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18B52D01-B080-4CB9-B4EB-B8DA01ACCFB0}"/>
              </a:ext>
            </a:extLst>
          </p:cNvPr>
          <p:cNvSpPr/>
          <p:nvPr/>
        </p:nvSpPr>
        <p:spPr>
          <a:xfrm>
            <a:off x="4407242" y="4696555"/>
            <a:ext cx="1225111" cy="276999"/>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ECDAC25F-7DE6-4F21-8398-C3762AB669F8}"/>
              </a:ext>
            </a:extLst>
          </p:cNvPr>
          <p:cNvSpPr/>
          <p:nvPr/>
        </p:nvSpPr>
        <p:spPr>
          <a:xfrm>
            <a:off x="4670854" y="4797210"/>
            <a:ext cx="1087394" cy="45624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0E29C283-D004-4C2E-96FF-978C8BDC9579}"/>
              </a:ext>
            </a:extLst>
          </p:cNvPr>
          <p:cNvSpPr/>
          <p:nvPr/>
        </p:nvSpPr>
        <p:spPr>
          <a:xfrm>
            <a:off x="4950940" y="853096"/>
            <a:ext cx="1606390" cy="469183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19794376-2C5C-4615-9CBE-A4D3F979C3B5}"/>
              </a:ext>
            </a:extLst>
          </p:cNvPr>
          <p:cNvSpPr/>
          <p:nvPr/>
        </p:nvSpPr>
        <p:spPr>
          <a:xfrm>
            <a:off x="5247503" y="5266550"/>
            <a:ext cx="2007708" cy="555442"/>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F5F32727-A9BC-4F96-9775-BE744E916B99}"/>
              </a:ext>
            </a:extLst>
          </p:cNvPr>
          <p:cNvSpPr/>
          <p:nvPr/>
        </p:nvSpPr>
        <p:spPr>
          <a:xfrm>
            <a:off x="5527589" y="5709598"/>
            <a:ext cx="903835" cy="441087"/>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279207DB-AD56-4150-88F9-BF17531F64A6}"/>
              </a:ext>
            </a:extLst>
          </p:cNvPr>
          <p:cNvSpPr/>
          <p:nvPr/>
        </p:nvSpPr>
        <p:spPr>
          <a:xfrm>
            <a:off x="5526427" y="5742094"/>
            <a:ext cx="1033222" cy="648262"/>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F784E87A-C0E1-4C11-B79D-F2A367917E04}"/>
              </a:ext>
            </a:extLst>
          </p:cNvPr>
          <p:cNvSpPr/>
          <p:nvPr/>
        </p:nvSpPr>
        <p:spPr>
          <a:xfrm>
            <a:off x="932102" y="263880"/>
            <a:ext cx="1975221" cy="276999"/>
          </a:xfrm>
          <a:prstGeom prst="rect">
            <a:avLst/>
          </a:prstGeom>
        </p:spPr>
        <p:txBody>
          <a:bodyPr wrap="none">
            <a:spAutoFit/>
          </a:bodyPr>
          <a:lstStyle/>
          <a:p>
            <a:r>
              <a:rPr lang="en-US" sz="1200" dirty="0">
                <a:solidFill>
                  <a:srgbClr val="30CDD7"/>
                </a:solidFill>
                <a:latin typeface="Georgia" panose="02040502050405020303" pitchFamily="18" charset="0"/>
              </a:rPr>
              <a:t>Summary and conclusions</a:t>
            </a:r>
          </a:p>
        </p:txBody>
      </p:sp>
      <p:sp>
        <p:nvSpPr>
          <p:cNvPr id="34" name="TextBox 33">
            <a:extLst>
              <a:ext uri="{FF2B5EF4-FFF2-40B4-BE49-F238E27FC236}">
                <a16:creationId xmlns:a16="http://schemas.microsoft.com/office/drawing/2014/main" id="{38CDF2A1-B56F-4EC2-80F0-22F02185C06C}"/>
              </a:ext>
            </a:extLst>
          </p:cNvPr>
          <p:cNvSpPr txBox="1"/>
          <p:nvPr/>
        </p:nvSpPr>
        <p:spPr>
          <a:xfrm>
            <a:off x="7528166" y="755948"/>
            <a:ext cx="4110893" cy="4985980"/>
          </a:xfrm>
          <a:prstGeom prst="rect">
            <a:avLst/>
          </a:prstGeom>
          <a:noFill/>
        </p:spPr>
        <p:txBody>
          <a:bodyPr wrap="square" rtlCol="0">
            <a:spAutoFit/>
          </a:bodyPr>
          <a:lstStyle/>
          <a:p>
            <a:pPr marL="285750" indent="-285750">
              <a:buFontTx/>
              <a:buChar char="-"/>
            </a:pPr>
            <a:r>
              <a:rPr lang="en-US" sz="1200" dirty="0">
                <a:solidFill>
                  <a:srgbClr val="30CDD7"/>
                </a:solidFill>
                <a:latin typeface="Georgia Pro" panose="02040502050405020303" pitchFamily="18" charset="0"/>
              </a:rPr>
              <a:t>Introduction</a:t>
            </a:r>
          </a:p>
          <a:p>
            <a:pPr marL="285750" indent="-285750">
              <a:buFontTx/>
              <a:buChar char="-"/>
            </a:pPr>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GB" sz="1200" dirty="0">
                <a:solidFill>
                  <a:srgbClr val="30CDD7"/>
                </a:solidFill>
                <a:latin typeface="Georgia Pro" panose="02040502050405020303" pitchFamily="18" charset="0"/>
              </a:rPr>
              <a:t>Methods</a:t>
            </a:r>
          </a:p>
          <a:p>
            <a:endParaRPr lang="nl-NL" sz="1200" dirty="0">
              <a:solidFill>
                <a:srgbClr val="30CDD7"/>
              </a:solidFill>
              <a:latin typeface="Georgia Pro" panose="02040502050405020303" pitchFamily="18" charset="0"/>
            </a:endParaRPr>
          </a:p>
          <a:p>
            <a:pPr marL="285750" indent="-285750">
              <a:buFontTx/>
              <a:buChar char="-"/>
            </a:pPr>
            <a:endParaRPr lang="nl-NL"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 Results and discussion</a:t>
            </a:r>
          </a:p>
          <a:p>
            <a:pPr marL="285750" indent="-285750">
              <a:buFontTx/>
              <a:buChar char="-"/>
            </a:pPr>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The overlaps</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The insolation canon</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Origin of overlaps</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The three classical problems</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Leads and lags around a termination: Phase</a:t>
            </a:r>
          </a:p>
          <a:p>
            <a:r>
              <a:rPr lang="en-US" sz="1200" dirty="0">
                <a:solidFill>
                  <a:srgbClr val="30CDD7"/>
                </a:solidFill>
                <a:latin typeface="Georgia Pro" panose="02040502050405020303" pitchFamily="18" charset="0"/>
              </a:rPr>
              <a:t>           differences between NH and SH?</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Possible feedback mechanisms</a:t>
            </a:r>
          </a:p>
          <a:p>
            <a:endParaRPr lang="en-US" sz="1200" dirty="0">
              <a:solidFill>
                <a:srgbClr val="30CDD7"/>
              </a:solidFill>
              <a:latin typeface="Georgia Pro" panose="02040502050405020303" pitchFamily="18" charset="0"/>
            </a:endParaRPr>
          </a:p>
          <a:p>
            <a:r>
              <a:rPr lang="en-US" sz="1200" dirty="0">
                <a:solidFill>
                  <a:srgbClr val="30CDD7"/>
                </a:solidFill>
                <a:latin typeface="Georgia Pro" panose="02040502050405020303" pitchFamily="18" charset="0"/>
              </a:rPr>
              <a:t>         - The future</a:t>
            </a:r>
          </a:p>
          <a:p>
            <a:endParaRPr lang="en-US" sz="1200" dirty="0">
              <a:solidFill>
                <a:srgbClr val="30CDD7"/>
              </a:solidFill>
              <a:latin typeface="Georgia Pro" panose="02040502050405020303" pitchFamily="18" charset="0"/>
            </a:endParaRPr>
          </a:p>
          <a:p>
            <a:endParaRPr lang="en-US" sz="1200" dirty="0">
              <a:solidFill>
                <a:srgbClr val="30CDD7"/>
              </a:solidFill>
              <a:latin typeface="Georgia Pro" panose="02040502050405020303" pitchFamily="18" charset="0"/>
            </a:endParaRPr>
          </a:p>
          <a:p>
            <a:pPr marL="285750" indent="-285750">
              <a:buFontTx/>
              <a:buChar char="-"/>
            </a:pPr>
            <a:r>
              <a:rPr lang="en-US" sz="1200" dirty="0">
                <a:solidFill>
                  <a:srgbClr val="30CDD7"/>
                </a:solidFill>
                <a:latin typeface="Georgia Pro" panose="02040502050405020303" pitchFamily="18" charset="0"/>
              </a:rPr>
              <a:t>Summary and conclusions</a:t>
            </a:r>
          </a:p>
          <a:p>
            <a:endParaRPr lang="nl-NL" dirty="0"/>
          </a:p>
        </p:txBody>
      </p:sp>
      <p:sp>
        <p:nvSpPr>
          <p:cNvPr id="35" name="Rectangle 34">
            <a:extLst>
              <a:ext uri="{FF2B5EF4-FFF2-40B4-BE49-F238E27FC236}">
                <a16:creationId xmlns:a16="http://schemas.microsoft.com/office/drawing/2014/main" id="{0138982A-EFE7-4DB9-B88C-4D4BF6D145E2}"/>
              </a:ext>
            </a:extLst>
          </p:cNvPr>
          <p:cNvSpPr/>
          <p:nvPr/>
        </p:nvSpPr>
        <p:spPr>
          <a:xfrm rot="5400000">
            <a:off x="3160160" y="3367442"/>
            <a:ext cx="5838091" cy="87942"/>
          </a:xfrm>
          <a:prstGeom prst="rect">
            <a:avLst/>
          </a:prstGeom>
          <a:solidFill>
            <a:srgbClr val="30CDD7">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Footer Placeholder 25">
            <a:extLst>
              <a:ext uri="{FF2B5EF4-FFF2-40B4-BE49-F238E27FC236}">
                <a16:creationId xmlns:a16="http://schemas.microsoft.com/office/drawing/2014/main" id="{8B473601-B9ED-49C3-BF27-EE78964D7E67}"/>
              </a:ext>
            </a:extLst>
          </p:cNvPr>
          <p:cNvSpPr>
            <a:spLocks noGrp="1"/>
          </p:cNvSpPr>
          <p:nvPr>
            <p:ph type="ftr" sz="quarter" idx="11"/>
          </p:nvPr>
        </p:nvSpPr>
        <p:spPr>
          <a:xfrm>
            <a:off x="-1055237" y="6492875"/>
            <a:ext cx="4114800" cy="365125"/>
          </a:xfrm>
        </p:spPr>
        <p:txBody>
          <a:bodyPr/>
          <a:lstStyle/>
          <a:p>
            <a:pPr algn="l"/>
            <a:r>
              <a:rPr lang="en-GB" sz="1000" dirty="0">
                <a:solidFill>
                  <a:srgbClr val="30CDD7"/>
                </a:solidFill>
                <a:latin typeface="Georgia Pro" panose="02040502050405020303" pitchFamily="18" charset="0"/>
              </a:rPr>
              <a:t>                                         Schulz and </a:t>
            </a:r>
            <a:r>
              <a:rPr lang="en-GB" sz="1000" dirty="0" err="1">
                <a:solidFill>
                  <a:srgbClr val="30CDD7"/>
                </a:solidFill>
                <a:latin typeface="Georgia Pro" panose="02040502050405020303" pitchFamily="18" charset="0"/>
              </a:rPr>
              <a:t>Zeebe</a:t>
            </a:r>
            <a:r>
              <a:rPr lang="en-GB" sz="1000" dirty="0">
                <a:solidFill>
                  <a:srgbClr val="30CDD7"/>
                </a:solidFill>
                <a:latin typeface="Georgia Pro" panose="02040502050405020303" pitchFamily="18" charset="0"/>
              </a:rPr>
              <a:t> </a:t>
            </a:r>
            <a:r>
              <a:rPr lang="de-DE" sz="1000" dirty="0">
                <a:solidFill>
                  <a:srgbClr val="30CDD7"/>
                </a:solidFill>
                <a:latin typeface="Georgia Pro" panose="02040502050405020303" pitchFamily="18" charset="0"/>
              </a:rPr>
              <a:t>(2006)</a:t>
            </a:r>
            <a:endParaRPr lang="nl-NL" sz="1000" dirty="0">
              <a:solidFill>
                <a:srgbClr val="30CDD7"/>
              </a:solidFill>
              <a:latin typeface="Georgia Pro" panose="02040502050405020303" pitchFamily="18" charset="0"/>
            </a:endParaRPr>
          </a:p>
        </p:txBody>
      </p:sp>
      <p:cxnSp>
        <p:nvCxnSpPr>
          <p:cNvPr id="37" name="Straight Connector 36">
            <a:extLst>
              <a:ext uri="{FF2B5EF4-FFF2-40B4-BE49-F238E27FC236}">
                <a16:creationId xmlns:a16="http://schemas.microsoft.com/office/drawing/2014/main" id="{3BE36E3A-3E67-4C09-94E7-AE4DD63EFDCB}"/>
              </a:ext>
            </a:extLst>
          </p:cNvPr>
          <p:cNvCxnSpPr/>
          <p:nvPr/>
        </p:nvCxnSpPr>
        <p:spPr>
          <a:xfrm flipH="1">
            <a:off x="6096000" y="492367"/>
            <a:ext cx="7815" cy="5838092"/>
          </a:xfrm>
          <a:prstGeom prst="line">
            <a:avLst/>
          </a:prstGeom>
          <a:ln w="3175">
            <a:solidFill>
              <a:srgbClr val="30CCD6"/>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FEE3620-9591-49A8-AE7C-189241D6FE52}"/>
              </a:ext>
            </a:extLst>
          </p:cNvPr>
          <p:cNvSpPr txBox="1"/>
          <p:nvPr/>
        </p:nvSpPr>
        <p:spPr>
          <a:xfrm>
            <a:off x="8979256" y="540879"/>
            <a:ext cx="3172231" cy="646331"/>
          </a:xfrm>
          <a:prstGeom prst="rect">
            <a:avLst/>
          </a:prstGeom>
          <a:noFill/>
        </p:spPr>
        <p:txBody>
          <a:bodyPr wrap="square">
            <a:spAutoFit/>
          </a:bodyPr>
          <a:lstStyle/>
          <a:p>
            <a:r>
              <a:rPr lang="en-US" sz="1200" dirty="0">
                <a:solidFill>
                  <a:schemeClr val="bg1"/>
                </a:solidFill>
                <a:highlight>
                  <a:srgbClr val="30CDD7"/>
                </a:highlight>
                <a:latin typeface="Georgia Pro" panose="02040502050405020303" pitchFamily="18" charset="0"/>
              </a:rPr>
              <a:t>Changes in SH and NH midsummer</a:t>
            </a:r>
          </a:p>
          <a:p>
            <a:r>
              <a:rPr lang="en-US" sz="1200" dirty="0">
                <a:solidFill>
                  <a:schemeClr val="bg1"/>
                </a:solidFill>
                <a:highlight>
                  <a:srgbClr val="30CDD7"/>
                </a:highlight>
                <a:latin typeface="Georgia Pro" panose="02040502050405020303" pitchFamily="18" charset="0"/>
              </a:rPr>
              <a:t>insolation (65°) during the entire Pleistocene</a:t>
            </a:r>
          </a:p>
        </p:txBody>
      </p:sp>
      <p:sp>
        <p:nvSpPr>
          <p:cNvPr id="40" name="TextBox 39">
            <a:extLst>
              <a:ext uri="{FF2B5EF4-FFF2-40B4-BE49-F238E27FC236}">
                <a16:creationId xmlns:a16="http://schemas.microsoft.com/office/drawing/2014/main" id="{92F780E5-3D2B-4F67-94AE-BD6D788CC39E}"/>
              </a:ext>
            </a:extLst>
          </p:cNvPr>
          <p:cNvSpPr txBox="1"/>
          <p:nvPr/>
        </p:nvSpPr>
        <p:spPr>
          <a:xfrm>
            <a:off x="8979255" y="1215620"/>
            <a:ext cx="3172231" cy="646331"/>
          </a:xfrm>
          <a:prstGeom prst="rect">
            <a:avLst/>
          </a:prstGeom>
          <a:noFill/>
        </p:spPr>
        <p:txBody>
          <a:bodyPr wrap="square">
            <a:spAutoFit/>
          </a:bodyPr>
          <a:lstStyle/>
          <a:p>
            <a:r>
              <a:rPr lang="en-US" sz="1200" dirty="0">
                <a:solidFill>
                  <a:schemeClr val="bg1"/>
                </a:solidFill>
                <a:highlight>
                  <a:srgbClr val="30CDD7"/>
                </a:highlight>
                <a:latin typeface="Georgia Pro" panose="02040502050405020303" pitchFamily="18" charset="0"/>
              </a:rPr>
              <a:t>The insolation analysis performed on the astronomical solution for Earth's orbital parameters</a:t>
            </a:r>
          </a:p>
        </p:txBody>
      </p:sp>
      <p:sp>
        <p:nvSpPr>
          <p:cNvPr id="41" name="TextBox 40">
            <a:extLst>
              <a:ext uri="{FF2B5EF4-FFF2-40B4-BE49-F238E27FC236}">
                <a16:creationId xmlns:a16="http://schemas.microsoft.com/office/drawing/2014/main" id="{CF4B5EF3-31F2-4A0B-BC38-6C603F64D082}"/>
              </a:ext>
            </a:extLst>
          </p:cNvPr>
          <p:cNvSpPr txBox="1"/>
          <p:nvPr/>
        </p:nvSpPr>
        <p:spPr>
          <a:xfrm>
            <a:off x="7535297" y="5484798"/>
            <a:ext cx="3172231" cy="830997"/>
          </a:xfrm>
          <a:prstGeom prst="rect">
            <a:avLst/>
          </a:prstGeom>
          <a:noFill/>
        </p:spPr>
        <p:txBody>
          <a:bodyPr wrap="square">
            <a:spAutoFit/>
          </a:bodyPr>
          <a:lstStyle/>
          <a:p>
            <a:r>
              <a:rPr lang="en-US" sz="1200" dirty="0">
                <a:solidFill>
                  <a:schemeClr val="bg1"/>
                </a:solidFill>
                <a:highlight>
                  <a:srgbClr val="30CDD7"/>
                </a:highlight>
                <a:latin typeface="Georgia Pro" panose="02040502050405020303" pitchFamily="18" charset="0"/>
              </a:rPr>
              <a:t>The overlaps are involved in initiating global ice volume oscillations in the past, and that the insolation canon is the trigger of the Late Pleistocene glacial terminations.</a:t>
            </a:r>
          </a:p>
        </p:txBody>
      </p:sp>
      <p:sp>
        <p:nvSpPr>
          <p:cNvPr id="42" name="TextBox 41">
            <a:extLst>
              <a:ext uri="{FF2B5EF4-FFF2-40B4-BE49-F238E27FC236}">
                <a16:creationId xmlns:a16="http://schemas.microsoft.com/office/drawing/2014/main" id="{0B851F81-3A39-42A4-8B0F-14206789256B}"/>
              </a:ext>
            </a:extLst>
          </p:cNvPr>
          <p:cNvSpPr txBox="1"/>
          <p:nvPr/>
        </p:nvSpPr>
        <p:spPr>
          <a:xfrm>
            <a:off x="6183943" y="2921966"/>
            <a:ext cx="1699678" cy="461665"/>
          </a:xfrm>
          <a:prstGeom prst="rect">
            <a:avLst/>
          </a:prstGeom>
          <a:noFill/>
        </p:spPr>
        <p:txBody>
          <a:bodyPr wrap="square">
            <a:spAutoFit/>
          </a:bodyPr>
          <a:lstStyle/>
          <a:p>
            <a:r>
              <a:rPr lang="en-US" sz="1200" dirty="0">
                <a:solidFill>
                  <a:schemeClr val="bg1"/>
                </a:solidFill>
                <a:highlight>
                  <a:srgbClr val="30CDD7"/>
                </a:highlight>
                <a:latin typeface="Georgia Pro" panose="02040502050405020303" pitchFamily="18" charset="0"/>
              </a:rPr>
              <a:t>Obliquity/Precession/Eccentricity</a:t>
            </a:r>
            <a:endParaRPr lang="en-GB" sz="1200" dirty="0">
              <a:solidFill>
                <a:schemeClr val="bg1"/>
              </a:solidFill>
              <a:highlight>
                <a:srgbClr val="30CDD7"/>
              </a:highlight>
              <a:latin typeface="Georgia Pro" panose="02040502050405020303" pitchFamily="18" charset="0"/>
            </a:endParaRPr>
          </a:p>
        </p:txBody>
      </p:sp>
    </p:spTree>
    <p:extLst>
      <p:ext uri="{BB962C8B-B14F-4D97-AF65-F5344CB8AC3E}">
        <p14:creationId xmlns:p14="http://schemas.microsoft.com/office/powerpoint/2010/main" val="3608233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69107" y="1426305"/>
            <a:ext cx="1938216" cy="1953848"/>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6" name="Rectangle 5"/>
          <p:cNvSpPr/>
          <p:nvPr/>
        </p:nvSpPr>
        <p:spPr>
          <a:xfrm>
            <a:off x="969107" y="3497383"/>
            <a:ext cx="1938216" cy="195384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7" name="Rectangle 6"/>
          <p:cNvSpPr/>
          <p:nvPr/>
        </p:nvSpPr>
        <p:spPr>
          <a:xfrm>
            <a:off x="3024555" y="1426305"/>
            <a:ext cx="1938216" cy="1953848"/>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8" name="Rectangle 7"/>
          <p:cNvSpPr/>
          <p:nvPr/>
        </p:nvSpPr>
        <p:spPr>
          <a:xfrm>
            <a:off x="3024555" y="3497383"/>
            <a:ext cx="1938216" cy="1953848"/>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9" name="Rectangle 8">
            <a:extLst>
              <a:ext uri="{FF2B5EF4-FFF2-40B4-BE49-F238E27FC236}">
                <a16:creationId xmlns:a16="http://schemas.microsoft.com/office/drawing/2014/main" id="{42913FDF-BE5E-4B79-95B7-31A15A357729}"/>
              </a:ext>
            </a:extLst>
          </p:cNvPr>
          <p:cNvSpPr/>
          <p:nvPr/>
        </p:nvSpPr>
        <p:spPr>
          <a:xfrm>
            <a:off x="932102" y="263880"/>
            <a:ext cx="920445" cy="276999"/>
          </a:xfrm>
          <a:prstGeom prst="rect">
            <a:avLst/>
          </a:prstGeom>
        </p:spPr>
        <p:txBody>
          <a:bodyPr wrap="none">
            <a:spAutoFit/>
          </a:bodyPr>
          <a:lstStyle/>
          <a:p>
            <a:r>
              <a:rPr lang="en-US" sz="1200" dirty="0">
                <a:solidFill>
                  <a:srgbClr val="30CDD7"/>
                </a:solidFill>
                <a:latin typeface="Georgia" panose="02040502050405020303" pitchFamily="18" charset="0"/>
              </a:rPr>
              <a:t>Discussion</a:t>
            </a:r>
          </a:p>
        </p:txBody>
      </p:sp>
      <p:sp>
        <p:nvSpPr>
          <p:cNvPr id="2" name="TextBox 1">
            <a:extLst>
              <a:ext uri="{FF2B5EF4-FFF2-40B4-BE49-F238E27FC236}">
                <a16:creationId xmlns:a16="http://schemas.microsoft.com/office/drawing/2014/main" id="{FD909D44-FA26-4E98-B56D-7DDC0294106E}"/>
              </a:ext>
            </a:extLst>
          </p:cNvPr>
          <p:cNvSpPr txBox="1"/>
          <p:nvPr/>
        </p:nvSpPr>
        <p:spPr>
          <a:xfrm>
            <a:off x="7076303" y="1426305"/>
            <a:ext cx="3352800" cy="1200329"/>
          </a:xfrm>
          <a:prstGeom prst="rect">
            <a:avLst/>
          </a:prstGeom>
          <a:noFill/>
        </p:spPr>
        <p:txBody>
          <a:bodyPr wrap="square" rtlCol="0">
            <a:spAutoFit/>
          </a:bodyPr>
          <a:lstStyle/>
          <a:p>
            <a:pPr marL="171450" indent="-171450">
              <a:buFontTx/>
              <a:buChar char="-"/>
            </a:pPr>
            <a:endParaRPr lang="en-US" sz="1200" dirty="0">
              <a:solidFill>
                <a:srgbClr val="5B9BD5"/>
              </a:solidFill>
              <a:latin typeface="Georgia" panose="02040502050405020303" pitchFamily="18" charset="0"/>
            </a:endParaRPr>
          </a:p>
          <a:p>
            <a:pPr marL="171450" indent="-171450">
              <a:buFontTx/>
              <a:buChar char="-"/>
            </a:pPr>
            <a:endParaRPr lang="en-US" sz="1200" dirty="0">
              <a:solidFill>
                <a:srgbClr val="30CDD7"/>
              </a:solidFill>
              <a:latin typeface="Georgia" panose="02040502050405020303" pitchFamily="18" charset="0"/>
            </a:endParaRPr>
          </a:p>
          <a:p>
            <a:pPr marL="171450" indent="-171450">
              <a:buFontTx/>
              <a:buChar char="-"/>
            </a:pPr>
            <a:r>
              <a:rPr lang="en-US" sz="1200" dirty="0">
                <a:solidFill>
                  <a:srgbClr val="30CDD7"/>
                </a:solidFill>
                <a:latin typeface="Georgia" panose="02040502050405020303" pitchFamily="18" charset="0"/>
              </a:rPr>
              <a:t>Canon</a:t>
            </a:r>
          </a:p>
          <a:p>
            <a:pPr marL="171450" indent="-171450">
              <a:buFontTx/>
              <a:buChar char="-"/>
            </a:pPr>
            <a:endParaRPr lang="en-US" sz="1200" dirty="0">
              <a:solidFill>
                <a:srgbClr val="30CDD7"/>
              </a:solidFill>
              <a:latin typeface="Georgia" panose="02040502050405020303" pitchFamily="18" charset="0"/>
            </a:endParaRPr>
          </a:p>
          <a:p>
            <a:pPr marL="171450" indent="-171450">
              <a:buFontTx/>
              <a:buChar char="-"/>
            </a:pPr>
            <a:endParaRPr lang="en-US" sz="1200" dirty="0">
              <a:solidFill>
                <a:srgbClr val="30CDD7"/>
              </a:solidFill>
              <a:latin typeface="Georgia" panose="02040502050405020303" pitchFamily="18" charset="0"/>
            </a:endParaRPr>
          </a:p>
          <a:p>
            <a:pPr marL="171450" indent="-171450">
              <a:buFontTx/>
              <a:buChar char="-"/>
            </a:pPr>
            <a:endParaRPr lang="en-GB" sz="1200" dirty="0">
              <a:solidFill>
                <a:srgbClr val="5B9BD5"/>
              </a:solidFill>
              <a:latin typeface="Georgia" panose="02040502050405020303" pitchFamily="18" charset="0"/>
            </a:endParaRPr>
          </a:p>
        </p:txBody>
      </p:sp>
    </p:spTree>
    <p:extLst>
      <p:ext uri="{BB962C8B-B14F-4D97-AF65-F5344CB8AC3E}">
        <p14:creationId xmlns:p14="http://schemas.microsoft.com/office/powerpoint/2010/main" val="1073266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980</Words>
  <Application>Microsoft Office PowerPoint</Application>
  <PresentationFormat>Widescreen</PresentationFormat>
  <Paragraphs>176</Paragraphs>
  <Slides>13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Arial</vt:lpstr>
      <vt:lpstr>Calibri</vt:lpstr>
      <vt:lpstr>Calibri Light</vt:lpstr>
      <vt:lpstr>Cambria Math</vt:lpstr>
      <vt:lpstr>georgia</vt:lpstr>
      <vt:lpstr>georgia</vt:lpstr>
      <vt:lpstr>Georgia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吴 启凡</dc:creator>
  <cp:lastModifiedBy>吴 启凡</cp:lastModifiedBy>
  <cp:revision>74</cp:revision>
  <dcterms:created xsi:type="dcterms:W3CDTF">2021-12-11T19:34:22Z</dcterms:created>
  <dcterms:modified xsi:type="dcterms:W3CDTF">2021-12-16T10:42:22Z</dcterms:modified>
</cp:coreProperties>
</file>